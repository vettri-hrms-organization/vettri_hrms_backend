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cbf5015-2d26-87c5-10eb-bc9c9904e1ce}">
          <p14:sldIdLst>
            <p14:sldId id="256"/>
            <p14:sldId id="257"/>
          </p14:sldIdLst>
        </p14:section>
        <p14:section name="The platform" id="{2c2bc0b0-2224-beba-2a36-bd3b26e8139a}">
          <p14:sldIdLst>
            <p14:sldId id="258"/>
            <p14:sldId id="259"/>
            <p14:sldId id="260"/>
            <p14:sldId id="261"/>
            <p14:sldId id="262"/>
            <p14:sldId id="263"/>
            <p14:sldId id="264"/>
            <p14:sldId id="265"/>
          </p14:sldIdLst>
        </p14:section>
        <p14:section name="Trust and next steps" id="{edbc43a8-45a3-34c2-5440-b4109297f0fc}">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Vettri replaces the separate HR tool, the payroll spreadsheet and the IT laptop tracker with one platform. The rest of the deck walks through each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client which of these three they feel today. Most growing companies feel all three, and that is the reason Vettri puts them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whole product. The IT pillar is highlighted because few HR tools offer it: Vettri manages the laptops as well as the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HR is the foundation. Point out bulk import: a company can move from spreadsheets to Vettri in an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honesty of the data: selfie and GPS for mobile check-in, biometric machines for the office, and WFH approval before a laptop clock-in is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Payroll is where most clients feel pain. The gold pills are the monthly deductions; the blue ones are the yearly forms and returns Vettri prepares. Attendance and leave feed payroll directly, so nobody re-types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modules come with the same login and the same employee records, so a new hire moves from recruitment to onboarding to payroll without re-entering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sets Vettri apart: HR tools usually stop at people; Vettri also manages the laptops. IT runs only approved actions, the employee sees a clear notice of what is collected, and gets a popup whenever a remote session starts. The tray shown is an example; the company name changes per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an employee answers themselves is one fewer message to HR. Ask Vettri answers from the company’s own data, and only shows each person what they are allowed to see. The numbers in the chat are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activity-vs-attendance check is useful for remote teams: it flags days where the punch and the laptop do not agree, so HR can have a fair conversation. The names and numbers here are made-up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ask about data safety early. DPDP means India’s Digital Personal Data Protection Act 2023: Vettri keeps consent records, handles data requests and lets the company export its data. The laptop agent also shows employees a clear notice of what it collects.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steps so the client sees how little effort it takes to start, then agree a demo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Glow-top-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Glow-bottom-image-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Acc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rtlCol="0"/>
          <a:lstStyle>
            <a:lvl1pPr indent="0" marL="0">
              <a:buNone/>
              <a:defRPr lang="en-US" sz="1200" b="1" spc="300" kern="0" dirty="0">
                <a:solidFill>
                  <a:srgbClr val="FFB000"/>
                </a:solidFill>
              </a:defRPr>
            </a:lvl1pPr>
          </a:lstStyle>
          <a:p>
            <a:pPr indent="0" marL="0">
              <a:buNone/>
            </a:pP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rtlCol="0"/>
          <a:lstStyle>
            <a:lvl1pPr indent="0" marL="0">
              <a:buNone/>
              <a:defRPr lang="en-US" sz="3200" b="1" dirty="0">
                <a:solidFill>
                  <a:srgbClr val="F6F7FB"/>
                </a:solidFill>
                <a:latin typeface="Century Gothic" pitchFamily="34" charset="0"/>
                <a:ea typeface="Century Gothic" pitchFamily="34" charset="-122"/>
                <a:cs typeface="Century Gothic" pitchFamily="34" charset="-120"/>
              </a:defRPr>
            </a:lvl1pPr>
          </a:lstStyle>
          <a:p>
            <a:pPr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6F7F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rtlCol="0"/>
          <a:lstStyle>
            <a:lvl1pPr indent="0" marL="0">
              <a:buNone/>
              <a:defRPr lang="en-US" sz="1200" b="1" spc="300" kern="0" dirty="0">
                <a:solidFill>
                  <a:srgbClr val="3457C9"/>
                </a:solidFill>
              </a:defRPr>
            </a:lvl1pPr>
          </a:lstStyle>
          <a:p>
            <a:pPr indent="0" marL="0">
              <a:buNone/>
            </a:pP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rtlCol="0"/>
          <a:lstStyle>
            <a:lvl1pPr indent="0" marL="0">
              <a:buNone/>
              <a:defRPr lang="en-US" sz="3200" b="1" dirty="0">
                <a:solidFill>
                  <a:srgbClr val="10172A"/>
                </a:solidFill>
                <a:latin typeface="Century Gothic" pitchFamily="34" charset="0"/>
                <a:ea typeface="Century Gothic" pitchFamily="34" charset="-122"/>
                <a:cs typeface="Century Gothic" pitchFamily="34" charset="-120"/>
              </a:defRPr>
            </a:lvl1pPr>
          </a:lstStyle>
          <a:p>
            <a:pPr indent="0" marL="0">
              <a:buNone/>
            </a:pPr>
            <a:endParaRPr lang="en-US" sz="3200" dirty="0"/>
          </a:p>
        </p:txBody>
      </p:sp>
      <p:sp>
        <p:nvSpPr>
          <p:cNvPr id="4"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rgbClr val="8A94B3"/>
                </a:solidFill>
              </a:rPr>
              <a:t>Vettri HRMS</a:t>
            </a:r>
            <a:endParaRPr lang="en-US" sz="11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0172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rtlCol="0"/>
          <a:lstStyle>
            <a:lvl1pPr indent="0" marL="0">
              <a:buNone/>
              <a:defRPr lang="en-US" sz="1200" b="1" spc="300" kern="0" dirty="0">
                <a:solidFill>
                  <a:srgbClr val="FFB000"/>
                </a:solidFill>
              </a:defRPr>
            </a:lvl1pPr>
          </a:lstStyle>
          <a:p>
            <a:pPr indent="0" marL="0">
              <a:buNone/>
            </a:pP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rtlCol="0"/>
          <a:lstStyle>
            <a:lvl1pPr indent="0" marL="0">
              <a:buNone/>
              <a:defRPr lang="en-US" sz="3200" b="1" dirty="0">
                <a:solidFill>
                  <a:srgbClr val="F6F7FB"/>
                </a:solidFill>
                <a:latin typeface="Century Gothic" pitchFamily="34" charset="0"/>
                <a:ea typeface="Century Gothic" pitchFamily="34" charset="-122"/>
                <a:cs typeface="Century Gothic" pitchFamily="34" charset="-120"/>
              </a:defRPr>
            </a:lvl1pPr>
          </a:lstStyle>
          <a:p>
            <a:pPr indent="0" marL="0">
              <a:buNone/>
            </a:pPr>
            <a:endParaRPr lang="en-US" sz="3200" dirty="0"/>
          </a:p>
        </p:txBody>
      </p:sp>
      <p:sp>
        <p:nvSpPr>
          <p:cNvPr id="4"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rgbClr val="8A94B3"/>
                </a:solidFill>
              </a:rPr>
              <a:t>Vettri HRMS</a:t>
            </a:r>
            <a:endParaRPr lang="en-US" sz="11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low top">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rtlCol="0"/>
          <a:lstStyle>
            <a:lvl1pPr indent="0" marL="0">
              <a:buNone/>
              <a:defRPr lang="en-US" sz="1200" b="1" spc="300" kern="0" dirty="0">
                <a:solidFill>
                  <a:srgbClr val="FFB000"/>
                </a:solidFill>
              </a:defRPr>
            </a:lvl1pPr>
          </a:lstStyle>
          <a:p>
            <a:pPr indent="0" marL="0">
              <a:buNone/>
            </a:pP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rtlCol="0"/>
          <a:lstStyle>
            <a:lvl1pPr indent="0" marL="0">
              <a:buNone/>
              <a:defRPr lang="en-US" sz="3200" b="1" dirty="0">
                <a:solidFill>
                  <a:srgbClr val="F6F7FB"/>
                </a:solidFill>
                <a:latin typeface="Century Gothic" pitchFamily="34" charset="0"/>
                <a:ea typeface="Century Gothic" pitchFamily="34" charset="-122"/>
                <a:cs typeface="Century Gothic" pitchFamily="34" charset="-120"/>
              </a:defRPr>
            </a:lvl1pPr>
          </a:lstStyle>
          <a:p>
            <a:pPr indent="0" marL="0">
              <a:buNone/>
            </a:pPr>
            <a:endParaRPr lang="en-US" sz="3200" dirty="0"/>
          </a:p>
        </p:txBody>
      </p:sp>
      <p:sp>
        <p:nvSpPr>
          <p:cNvPr id="4"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rgbClr val="8A94B3"/>
                </a:solidFill>
              </a:rPr>
              <a:t>Vettri HRMS</a:t>
            </a:r>
            <a:endParaRPr lang="en-US" sz="11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low bottom">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rtlCol="0"/>
          <a:lstStyle>
            <a:lvl1pPr indent="0" marL="0">
              <a:buNone/>
              <a:defRPr lang="en-US" sz="1200" b="1" spc="300" kern="0" dirty="0">
                <a:solidFill>
                  <a:srgbClr val="FFB000"/>
                </a:solidFill>
              </a:defRPr>
            </a:lvl1pPr>
          </a:lstStyle>
          <a:p>
            <a:pPr indent="0" marL="0">
              <a:buNone/>
            </a:pP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rtlCol="0"/>
          <a:lstStyle>
            <a:lvl1pPr indent="0" marL="0">
              <a:buNone/>
              <a:defRPr lang="en-US" sz="3200" b="1" dirty="0">
                <a:solidFill>
                  <a:srgbClr val="F6F7FB"/>
                </a:solidFill>
                <a:latin typeface="Century Gothic" pitchFamily="34" charset="0"/>
                <a:ea typeface="Century Gothic" pitchFamily="34" charset="-122"/>
                <a:cs typeface="Century Gothic" pitchFamily="34" charset="-120"/>
              </a:defRPr>
            </a:lvl1pPr>
          </a:lstStyle>
          <a:p>
            <a:pPr indent="0" marL="0">
              <a:buNone/>
            </a:pPr>
            <a:endParaRPr lang="en-US" sz="3200" dirty="0"/>
          </a:p>
        </p:txBody>
      </p:sp>
      <p:sp>
        <p:nvSpPr>
          <p:cNvPr id="4"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rgbClr val="8A94B3"/>
                </a:solidFill>
              </a:rPr>
              <a:t>Vettri HRMS</a:t>
            </a:r>
            <a:endParaRPr lang="en-US" sz="11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cc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rtlCol="0"/>
          <a:lstStyle>
            <a:lvl1pPr indent="0" marL="0">
              <a:buNone/>
              <a:defRPr lang="en-US" sz="1200" b="1" spc="300" kern="0" dirty="0">
                <a:solidFill>
                  <a:srgbClr val="FFD66B"/>
                </a:solidFill>
              </a:defRPr>
            </a:lvl1pPr>
          </a:lstStyle>
          <a:p>
            <a:pPr indent="0" marL="0">
              <a:buNone/>
            </a:pP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rtlCol="0"/>
          <a:lstStyle>
            <a:lvl1pPr indent="0" marL="0">
              <a:buNone/>
              <a:defRPr lang="en-US" sz="3200" b="1" dirty="0">
                <a:solidFill>
                  <a:srgbClr val="F6F7FB"/>
                </a:solidFill>
                <a:latin typeface="Century Gothic" pitchFamily="34" charset="0"/>
                <a:ea typeface="Century Gothic" pitchFamily="34" charset="-122"/>
                <a:cs typeface="Century Gothic" pitchFamily="34" charset="-120"/>
              </a:defRPr>
            </a:lvl1pPr>
          </a:lstStyle>
          <a:p>
            <a:pPr indent="0" marL="0">
              <a:buNone/>
            </a:pPr>
            <a:endParaRPr lang="en-US" sz="3200" dirty="0"/>
          </a:p>
        </p:txBody>
      </p:sp>
      <p:sp>
        <p:nvSpPr>
          <p:cNvPr id="4"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rgbClr val="DCE3FF"/>
                </a:solidFill>
              </a:rPr>
              <a:t>Vettri HRMS</a:t>
            </a:r>
            <a:endParaRPr lang="en-US" sz="11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DCE3FF"/>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6.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7.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Vettri HRMS logo">    </p:cNvPr>
          <p:cNvPicPr>
            <a:picLocks noChangeAspect="1"/>
          </p:cNvPicPr>
          <p:nvPr/>
        </p:nvPicPr>
        <p:blipFill>
          <a:blip r:embed="rId1"/>
          <a:stretch>
            <a:fillRect/>
          </a:stretch>
        </p:blipFill>
        <p:spPr>
          <a:xfrm>
            <a:off x="685800" y="548640"/>
            <a:ext cx="2194560" cy="841248"/>
          </a:xfrm>
          <a:prstGeom prst="rect">
            <a:avLst/>
          </a:prstGeom>
        </p:spPr>
      </p:pic>
      <p:sp>
        <p:nvSpPr>
          <p:cNvPr id="3" name="Text 0"/>
          <p:cNvSpPr txBox="1"/>
          <p:nvPr/>
        </p:nvSpPr>
        <p:spPr>
          <a:xfrm>
            <a:off x="685800" y="2148840"/>
            <a:ext cx="8229600" cy="365760"/>
          </a:xfrm>
          <a:prstGeom prst="rect">
            <a:avLst/>
          </a:prstGeom>
          <a:noFill/>
          <a:ln/>
        </p:spPr>
        <p:txBody>
          <a:bodyPr wrap="square" lIns="0" tIns="0" rIns="0" bIns="0" rtlCol="0" anchor="t"/>
          <a:lstStyle/>
          <a:p>
            <a:pPr indent="0" marL="0">
              <a:buNone/>
            </a:pPr>
            <a:r>
              <a:rPr lang="en-US" sz="1600" b="1" spc="400" kern="0" dirty="0">
                <a:solidFill>
                  <a:srgbClr val="FFB000"/>
                </a:solidFill>
              </a:rPr>
              <a:t>HR · PAYROLL · IT MANAGEMENT</a:t>
            </a:r>
            <a:endParaRPr lang="en-US" sz="1600" dirty="0"/>
          </a:p>
        </p:txBody>
      </p:sp>
      <p:sp>
        <p:nvSpPr>
          <p:cNvPr id="4" name="Cover title"/>
          <p:cNvSpPr txBox="1"/>
          <p:nvPr/>
        </p:nvSpPr>
        <p:spPr>
          <a:xfrm>
            <a:off x="685800" y="2606040"/>
            <a:ext cx="9875520" cy="1737360"/>
          </a:xfrm>
          <a:prstGeom prst="rect">
            <a:avLst/>
          </a:prstGeom>
          <a:noFill/>
          <a:ln/>
        </p:spPr>
        <p:txBody>
          <a:bodyPr wrap="square" lIns="0" tIns="0" rIns="0" bIns="0" rtlCol="0" anchor="t"/>
          <a:lstStyle/>
          <a:p>
            <a:pPr indent="0" marL="0">
              <a:buNone/>
            </a:pPr>
            <a:r>
              <a:rPr lang="en-US" sz="4400" b="1" dirty="0">
                <a:solidFill>
                  <a:srgbClr val="F6F7FB"/>
                </a:solidFill>
                <a:latin typeface="+mj-lt" pitchFamily="34" charset="0"/>
                <a:ea typeface="+mj-lt" pitchFamily="34" charset="-122"/>
                <a:cs typeface="+mj-lt" pitchFamily="34" charset="-120"/>
              </a:rPr>
              <a:t>One platform for your people </a:t>
            </a:r>
            <a:pPr indent="0" marL="0">
              <a:buNone/>
            </a:pPr>
            <a:r>
              <a:rPr lang="en-US" sz="4400" b="1" dirty="0">
                <a:solidFill>
                  <a:srgbClr val="8FA8FF"/>
                </a:solidFill>
                <a:latin typeface="+mj-lt" pitchFamily="34" charset="0"/>
                <a:ea typeface="+mj-lt" pitchFamily="34" charset="-122"/>
                <a:cs typeface="+mj-lt" pitchFamily="34" charset="-120"/>
              </a:rPr>
              <a:t>and their laptops.</a:t>
            </a:r>
            <a:endParaRPr lang="en-US" sz="4400" dirty="0"/>
          </a:p>
        </p:txBody>
      </p:sp>
      <p:sp>
        <p:nvSpPr>
          <p:cNvPr id="5" name="Text 2"/>
          <p:cNvSpPr txBox="1"/>
          <p:nvPr/>
        </p:nvSpPr>
        <p:spPr>
          <a:xfrm>
            <a:off x="685800" y="4434840"/>
            <a:ext cx="8412480" cy="822960"/>
          </a:xfrm>
          <a:prstGeom prst="rect">
            <a:avLst/>
          </a:prstGeom>
          <a:noFill/>
          <a:ln/>
        </p:spPr>
        <p:txBody>
          <a:bodyPr wrap="square" lIns="0" tIns="0" rIns="0" bIns="0" rtlCol="0" anchor="t"/>
          <a:lstStyle/>
          <a:p>
            <a:pPr indent="0" marL="0">
              <a:buNone/>
            </a:pPr>
            <a:r>
              <a:rPr lang="en-US" sz="2200" dirty="0">
                <a:solidFill>
                  <a:srgbClr val="C3CBE0"/>
                </a:solidFill>
              </a:rPr>
              <a:t>Hire, pay, track attendance and manage every company laptop – from one login.</a:t>
            </a:r>
            <a:endParaRPr lang="en-US" sz="2200" dirty="0"/>
          </a:p>
        </p:txBody>
      </p:sp>
      <p:sp>
        <p:nvSpPr>
          <p:cNvPr id="6" name="Text 3"/>
          <p:cNvSpPr txBox="1"/>
          <p:nvPr/>
        </p:nvSpPr>
        <p:spPr>
          <a:xfrm>
            <a:off x="685800" y="6172200"/>
            <a:ext cx="7315200" cy="320040"/>
          </a:xfrm>
          <a:prstGeom prst="rect">
            <a:avLst/>
          </a:prstGeom>
          <a:noFill/>
          <a:ln/>
        </p:spPr>
        <p:txBody>
          <a:bodyPr wrap="square" lIns="0" tIns="0" rIns="0" bIns="0" rtlCol="0" anchor="t"/>
          <a:lstStyle/>
          <a:p>
            <a:pPr indent="0" marL="0">
              <a:buNone/>
            </a:pPr>
            <a:r>
              <a:rPr lang="en-US" sz="1300" dirty="0">
                <a:solidFill>
                  <a:srgbClr val="8A94B3"/>
                </a:solidFill>
              </a:rPr>
              <a:t>Vettri HRMS · Made in India for growing teams</a:t>
            </a:r>
            <a:endParaRPr lang="en-US" sz="1300" dirty="0"/>
          </a:p>
        </p:txBody>
      </p:sp>
      <p:sp>
        <p:nvSpPr>
          <p:cNvPr id="8"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endParaRPr lang="en-US" sz="1200" dirty="0"/>
          </a:p>
        </p:txBody>
      </p:sp>
      <p:sp>
        <p:nvSpPr>
          <p:cNvPr id="9"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3457C9"/>
                </a:solidFill>
              </a:rPr>
              <a:t>THE EVERYDAY PROBLEM</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10172A"/>
                </a:solidFill>
                <a:latin typeface="Century Gothic" pitchFamily="34" charset="0"/>
                <a:ea typeface="Century Gothic" pitchFamily="34" charset="-122"/>
                <a:cs typeface="Century Gothic" pitchFamily="34" charset="-120"/>
              </a:rPr>
              <a:t>HR is spread across too many tools</a:t>
            </a:r>
            <a:endParaRPr lang="en-US" sz="3200" dirty="0"/>
          </a:p>
        </p:txBody>
      </p:sp>
      <p:sp>
        <p:nvSpPr>
          <p:cNvPr id="4" name="Problem card 1"/>
          <p:cNvSpPr/>
          <p:nvPr/>
        </p:nvSpPr>
        <p:spPr>
          <a:xfrm>
            <a:off x="685800" y="1965960"/>
            <a:ext cx="3393338" cy="3749040"/>
          </a:xfrm>
          <a:prstGeom prst="roundRect">
            <a:avLst>
              <a:gd name="adj" fmla="val 4312"/>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5" name="Problem 1 tile"/>
          <p:cNvSpPr/>
          <p:nvPr/>
        </p:nvSpPr>
        <p:spPr>
          <a:xfrm>
            <a:off x="1051560" y="2331720"/>
            <a:ext cx="685800" cy="685800"/>
          </a:xfrm>
          <a:prstGeom prst="roundRect">
            <a:avLst>
              <a:gd name="adj" fmla="val 16000"/>
            </a:avLst>
          </a:prstGeom>
          <a:solidFill>
            <a:srgbClr val="E8EEFF"/>
          </a:solidFill>
          <a:ln/>
        </p:spPr>
      </p:sp>
      <p:pic>
        <p:nvPicPr>
          <p:cNvPr id="6" name="Image 0" descr="preencoded.png">    </p:cNvPr>
          <p:cNvPicPr>
            <a:picLocks noChangeAspect="1"/>
          </p:cNvPicPr>
          <p:nvPr/>
        </p:nvPicPr>
        <p:blipFill>
          <a:blip r:embed="rId1"/>
          <a:stretch>
            <a:fillRect/>
          </a:stretch>
        </p:blipFill>
        <p:spPr>
          <a:xfrm>
            <a:off x="1223010" y="2503170"/>
            <a:ext cx="342900" cy="342900"/>
          </a:xfrm>
          <a:prstGeom prst="rect">
            <a:avLst/>
          </a:prstGeom>
        </p:spPr>
      </p:pic>
      <p:sp>
        <p:nvSpPr>
          <p:cNvPr id="7" name="Text 4"/>
          <p:cNvSpPr txBox="1"/>
          <p:nvPr/>
        </p:nvSpPr>
        <p:spPr>
          <a:xfrm>
            <a:off x="1051560" y="3246120"/>
            <a:ext cx="2661818" cy="731520"/>
          </a:xfrm>
          <a:prstGeom prst="rect">
            <a:avLst/>
          </a:prstGeom>
          <a:noFill/>
          <a:ln/>
        </p:spPr>
        <p:txBody>
          <a:bodyPr wrap="square" lIns="0" tIns="0" rIns="0" bIns="0" rtlCol="0" anchor="t"/>
          <a:lstStyle/>
          <a:p>
            <a:pPr indent="0" marL="0">
              <a:buNone/>
            </a:pPr>
            <a:r>
              <a:rPr lang="en-US" sz="2000" b="1" dirty="0">
                <a:solidFill>
                  <a:srgbClr val="10172A"/>
                </a:solidFill>
                <a:latin typeface="+mj-lt" pitchFamily="34" charset="0"/>
                <a:ea typeface="+mj-lt" pitchFamily="34" charset="-122"/>
                <a:cs typeface="+mj-lt" pitchFamily="34" charset="-120"/>
              </a:rPr>
              <a:t>Spreadsheets everywhere</a:t>
            </a:r>
            <a:endParaRPr lang="en-US" sz="2000" dirty="0"/>
          </a:p>
        </p:txBody>
      </p:sp>
      <p:sp>
        <p:nvSpPr>
          <p:cNvPr id="8" name="Text 5"/>
          <p:cNvSpPr txBox="1"/>
          <p:nvPr/>
        </p:nvSpPr>
        <p:spPr>
          <a:xfrm>
            <a:off x="1051560" y="4069080"/>
            <a:ext cx="2661818" cy="1371600"/>
          </a:xfrm>
          <a:prstGeom prst="rect">
            <a:avLst/>
          </a:prstGeom>
          <a:noFill/>
          <a:ln/>
        </p:spPr>
        <p:txBody>
          <a:bodyPr wrap="square" lIns="0" tIns="0" rIns="0" bIns="0" rtlCol="0" anchor="t"/>
          <a:lstStyle/>
          <a:p>
            <a:pPr indent="0" marL="0">
              <a:lnSpc>
                <a:spcPct val="115000"/>
              </a:lnSpc>
              <a:buNone/>
            </a:pPr>
            <a:r>
              <a:rPr lang="en-US" sz="1600" dirty="0">
                <a:solidFill>
                  <a:srgbClr val="4A5568"/>
                </a:solidFill>
              </a:rPr>
              <a:t>Employee records, leave balances and attendance live in files that nobody fully trusts.</a:t>
            </a:r>
            <a:endParaRPr lang="en-US" sz="1600" dirty="0"/>
          </a:p>
        </p:txBody>
      </p:sp>
      <p:sp>
        <p:nvSpPr>
          <p:cNvPr id="9" name="Problem card 2"/>
          <p:cNvSpPr/>
          <p:nvPr/>
        </p:nvSpPr>
        <p:spPr>
          <a:xfrm>
            <a:off x="4399178" y="1965960"/>
            <a:ext cx="3393338" cy="3749040"/>
          </a:xfrm>
          <a:prstGeom prst="roundRect">
            <a:avLst>
              <a:gd name="adj" fmla="val 4312"/>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0" name="Problem 2 tile"/>
          <p:cNvSpPr/>
          <p:nvPr/>
        </p:nvSpPr>
        <p:spPr>
          <a:xfrm>
            <a:off x="4764938" y="2331720"/>
            <a:ext cx="685800" cy="685800"/>
          </a:xfrm>
          <a:prstGeom prst="roundRect">
            <a:avLst>
              <a:gd name="adj" fmla="val 16000"/>
            </a:avLst>
          </a:prstGeom>
          <a:solidFill>
            <a:srgbClr val="FFF3D6"/>
          </a:solidFill>
          <a:ln/>
        </p:spPr>
      </p:sp>
      <p:pic>
        <p:nvPicPr>
          <p:cNvPr id="11" name="Image 1" descr="preencoded.png">    </p:cNvPr>
          <p:cNvPicPr>
            <a:picLocks noChangeAspect="1"/>
          </p:cNvPicPr>
          <p:nvPr/>
        </p:nvPicPr>
        <p:blipFill>
          <a:blip r:embed="rId2"/>
          <a:stretch>
            <a:fillRect/>
          </a:stretch>
        </p:blipFill>
        <p:spPr>
          <a:xfrm>
            <a:off x="4936388" y="2503170"/>
            <a:ext cx="342900" cy="342900"/>
          </a:xfrm>
          <a:prstGeom prst="rect">
            <a:avLst/>
          </a:prstGeom>
        </p:spPr>
      </p:pic>
      <p:sp>
        <p:nvSpPr>
          <p:cNvPr id="12" name="Text 8"/>
          <p:cNvSpPr txBox="1"/>
          <p:nvPr/>
        </p:nvSpPr>
        <p:spPr>
          <a:xfrm>
            <a:off x="4764938" y="3246120"/>
            <a:ext cx="2661818" cy="731520"/>
          </a:xfrm>
          <a:prstGeom prst="rect">
            <a:avLst/>
          </a:prstGeom>
          <a:noFill/>
          <a:ln/>
        </p:spPr>
        <p:txBody>
          <a:bodyPr wrap="square" lIns="0" tIns="0" rIns="0" bIns="0" rtlCol="0" anchor="t"/>
          <a:lstStyle/>
          <a:p>
            <a:pPr indent="0" marL="0">
              <a:buNone/>
            </a:pPr>
            <a:r>
              <a:rPr lang="en-US" sz="2000" b="1" dirty="0">
                <a:solidFill>
                  <a:srgbClr val="10172A"/>
                </a:solidFill>
                <a:latin typeface="+mj-lt" pitchFamily="34" charset="0"/>
                <a:ea typeface="+mj-lt" pitchFamily="34" charset="-122"/>
                <a:cs typeface="+mj-lt" pitchFamily="34" charset="-120"/>
              </a:rPr>
              <a:t>Payroll stress every month</a:t>
            </a:r>
            <a:endParaRPr lang="en-US" sz="2000" dirty="0"/>
          </a:p>
        </p:txBody>
      </p:sp>
      <p:sp>
        <p:nvSpPr>
          <p:cNvPr id="13" name="Text 9"/>
          <p:cNvSpPr txBox="1"/>
          <p:nvPr/>
        </p:nvSpPr>
        <p:spPr>
          <a:xfrm>
            <a:off x="4764938" y="4069080"/>
            <a:ext cx="2661818" cy="1371600"/>
          </a:xfrm>
          <a:prstGeom prst="rect">
            <a:avLst/>
          </a:prstGeom>
          <a:noFill/>
          <a:ln/>
        </p:spPr>
        <p:txBody>
          <a:bodyPr wrap="square" lIns="0" tIns="0" rIns="0" bIns="0" rtlCol="0" anchor="t"/>
          <a:lstStyle/>
          <a:p>
            <a:pPr indent="0" marL="0">
              <a:lnSpc>
                <a:spcPct val="115000"/>
              </a:lnSpc>
              <a:buNone/>
            </a:pPr>
            <a:r>
              <a:rPr lang="en-US" sz="1600" dirty="0">
                <a:solidFill>
                  <a:srgbClr val="4A5568"/>
                </a:solidFill>
              </a:rPr>
              <a:t>PF, ESI, PT and TDS are worked out by hand, and one mistake means penalties.</a:t>
            </a:r>
            <a:endParaRPr lang="en-US" sz="1600" dirty="0"/>
          </a:p>
        </p:txBody>
      </p:sp>
      <p:sp>
        <p:nvSpPr>
          <p:cNvPr id="14" name="Problem card 3"/>
          <p:cNvSpPr/>
          <p:nvPr/>
        </p:nvSpPr>
        <p:spPr>
          <a:xfrm>
            <a:off x="8112557" y="1965960"/>
            <a:ext cx="3393338" cy="3749040"/>
          </a:xfrm>
          <a:prstGeom prst="roundRect">
            <a:avLst>
              <a:gd name="adj" fmla="val 4312"/>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5" name="Problem 3 tile"/>
          <p:cNvSpPr/>
          <p:nvPr/>
        </p:nvSpPr>
        <p:spPr>
          <a:xfrm>
            <a:off x="8478317" y="2331720"/>
            <a:ext cx="685800" cy="685800"/>
          </a:xfrm>
          <a:prstGeom prst="roundRect">
            <a:avLst>
              <a:gd name="adj" fmla="val 16000"/>
            </a:avLst>
          </a:prstGeom>
          <a:solidFill>
            <a:srgbClr val="EEEBFF"/>
          </a:solidFill>
          <a:ln/>
        </p:spPr>
      </p:sp>
      <p:pic>
        <p:nvPicPr>
          <p:cNvPr id="16" name="Image 2" descr="preencoded.png">    </p:cNvPr>
          <p:cNvPicPr>
            <a:picLocks noChangeAspect="1"/>
          </p:cNvPicPr>
          <p:nvPr/>
        </p:nvPicPr>
        <p:blipFill>
          <a:blip r:embed="rId3"/>
          <a:stretch>
            <a:fillRect/>
          </a:stretch>
        </p:blipFill>
        <p:spPr>
          <a:xfrm>
            <a:off x="8649767" y="2503170"/>
            <a:ext cx="342900" cy="342900"/>
          </a:xfrm>
          <a:prstGeom prst="rect">
            <a:avLst/>
          </a:prstGeom>
        </p:spPr>
      </p:pic>
      <p:sp>
        <p:nvSpPr>
          <p:cNvPr id="17" name="Text 12"/>
          <p:cNvSpPr txBox="1"/>
          <p:nvPr/>
        </p:nvSpPr>
        <p:spPr>
          <a:xfrm>
            <a:off x="8478317" y="3246120"/>
            <a:ext cx="2661818" cy="731520"/>
          </a:xfrm>
          <a:prstGeom prst="rect">
            <a:avLst/>
          </a:prstGeom>
          <a:noFill/>
          <a:ln/>
        </p:spPr>
        <p:txBody>
          <a:bodyPr wrap="square" lIns="0" tIns="0" rIns="0" bIns="0" rtlCol="0" anchor="t"/>
          <a:lstStyle/>
          <a:p>
            <a:pPr indent="0" marL="0">
              <a:buNone/>
            </a:pPr>
            <a:r>
              <a:rPr lang="en-US" sz="2000" b="1" dirty="0">
                <a:solidFill>
                  <a:srgbClr val="10172A"/>
                </a:solidFill>
                <a:latin typeface="+mj-lt" pitchFamily="34" charset="0"/>
                <a:ea typeface="+mj-lt" pitchFamily="34" charset="-122"/>
                <a:cs typeface="+mj-lt" pitchFamily="34" charset="-120"/>
              </a:rPr>
              <a:t>Laptops nobody tracks</a:t>
            </a:r>
            <a:endParaRPr lang="en-US" sz="2000" dirty="0"/>
          </a:p>
        </p:txBody>
      </p:sp>
      <p:sp>
        <p:nvSpPr>
          <p:cNvPr id="18" name="Text 13"/>
          <p:cNvSpPr txBox="1"/>
          <p:nvPr/>
        </p:nvSpPr>
        <p:spPr>
          <a:xfrm>
            <a:off x="8478317" y="4069080"/>
            <a:ext cx="2661818" cy="1371600"/>
          </a:xfrm>
          <a:prstGeom prst="rect">
            <a:avLst/>
          </a:prstGeom>
          <a:noFill/>
          <a:ln/>
        </p:spPr>
        <p:txBody>
          <a:bodyPr wrap="square" lIns="0" tIns="0" rIns="0" bIns="0" rtlCol="0" anchor="t"/>
          <a:lstStyle/>
          <a:p>
            <a:pPr indent="0" marL="0">
              <a:lnSpc>
                <a:spcPct val="115000"/>
              </a:lnSpc>
              <a:buNone/>
            </a:pPr>
            <a:r>
              <a:rPr lang="en-US" sz="1600" dirty="0">
                <a:solidFill>
                  <a:srgbClr val="4A5568"/>
                </a:solidFill>
              </a:rPr>
              <a:t>IT can’t see which laptop is with whom, what is installed, or why it is slow.</a:t>
            </a:r>
            <a:endParaRPr lang="en-US" sz="1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FFB000"/>
                </a:solidFill>
              </a:rPr>
              <a:t>THE VETTRI PLATFORM</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F6F7FB"/>
                </a:solidFill>
                <a:latin typeface="Century Gothic" pitchFamily="34" charset="0"/>
                <a:ea typeface="Century Gothic" pitchFamily="34" charset="-122"/>
                <a:cs typeface="Century Gothic" pitchFamily="34" charset="-120"/>
              </a:rPr>
              <a:t>Four things you need, one login</a:t>
            </a:r>
            <a:endParaRPr lang="en-US" sz="3200" dirty="0"/>
          </a:p>
        </p:txBody>
      </p:sp>
      <p:sp>
        <p:nvSpPr>
          <p:cNvPr id="4" name="Pillar People"/>
          <p:cNvSpPr/>
          <p:nvPr/>
        </p:nvSpPr>
        <p:spPr>
          <a:xfrm>
            <a:off x="685800" y="1965960"/>
            <a:ext cx="2499284" cy="3383280"/>
          </a:xfrm>
          <a:prstGeom prst="roundRect">
            <a:avLst>
              <a:gd name="adj" fmla="val 5854"/>
            </a:avLst>
          </a:prstGeom>
          <a:solidFill>
            <a:srgbClr val="172044"/>
          </a:solidFill>
          <a:ln w="9525">
            <a:solidFill>
              <a:srgbClr val="2E3B6B"/>
            </a:solidFill>
            <a:prstDash val="solid"/>
          </a:ln>
        </p:spPr>
      </p:sp>
      <p:pic>
        <p:nvPicPr>
          <p:cNvPr id="5" name="Image 0" descr="preencoded.png">    </p:cNvPr>
          <p:cNvPicPr>
            <a:picLocks noChangeAspect="1"/>
          </p:cNvPicPr>
          <p:nvPr/>
        </p:nvPicPr>
        <p:blipFill>
          <a:blip r:embed="rId1"/>
          <a:stretch>
            <a:fillRect/>
          </a:stretch>
        </p:blipFill>
        <p:spPr>
          <a:xfrm>
            <a:off x="1051560" y="2377440"/>
            <a:ext cx="502920" cy="502920"/>
          </a:xfrm>
          <a:prstGeom prst="rect">
            <a:avLst/>
          </a:prstGeom>
        </p:spPr>
      </p:pic>
      <p:sp>
        <p:nvSpPr>
          <p:cNvPr id="6" name="Text 3"/>
          <p:cNvSpPr txBox="1"/>
          <p:nvPr/>
        </p:nvSpPr>
        <p:spPr>
          <a:xfrm>
            <a:off x="1051560" y="3108960"/>
            <a:ext cx="1767764" cy="457200"/>
          </a:xfrm>
          <a:prstGeom prst="rect">
            <a:avLst/>
          </a:prstGeom>
          <a:noFill/>
          <a:ln/>
        </p:spPr>
        <p:txBody>
          <a:bodyPr wrap="square" lIns="0" tIns="0" rIns="0" bIns="0" rtlCol="0" anchor="t"/>
          <a:lstStyle/>
          <a:p>
            <a:pPr indent="0" marL="0">
              <a:buNone/>
            </a:pPr>
            <a:r>
              <a:rPr lang="en-US" sz="2200" b="1" dirty="0">
                <a:solidFill>
                  <a:srgbClr val="F6F7FB"/>
                </a:solidFill>
                <a:latin typeface="+mj-lt" pitchFamily="34" charset="0"/>
                <a:ea typeface="+mj-lt" pitchFamily="34" charset="-122"/>
                <a:cs typeface="+mj-lt" pitchFamily="34" charset="-120"/>
              </a:rPr>
              <a:t>People</a:t>
            </a:r>
            <a:endParaRPr lang="en-US" sz="2200" dirty="0"/>
          </a:p>
        </p:txBody>
      </p:sp>
      <p:sp>
        <p:nvSpPr>
          <p:cNvPr id="7" name="Text 4"/>
          <p:cNvSpPr txBox="1"/>
          <p:nvPr/>
        </p:nvSpPr>
        <p:spPr>
          <a:xfrm>
            <a:off x="1051560" y="3703320"/>
            <a:ext cx="1767764" cy="1371600"/>
          </a:xfrm>
          <a:prstGeom prst="rect">
            <a:avLst/>
          </a:prstGeom>
          <a:noFill/>
          <a:ln/>
        </p:spPr>
        <p:txBody>
          <a:bodyPr wrap="square" lIns="0" tIns="0" rIns="0" bIns="0" rtlCol="0" anchor="t"/>
          <a:lstStyle/>
          <a:p>
            <a:pPr indent="0" marL="0">
              <a:lnSpc>
                <a:spcPct val="115000"/>
              </a:lnSpc>
              <a:buNone/>
            </a:pPr>
            <a:r>
              <a:rPr lang="en-US" sz="1500" dirty="0">
                <a:solidFill>
                  <a:srgbClr val="C3CBE0"/>
                </a:solidFill>
              </a:rPr>
              <a:t>Employee records, org chart, documents, letters and onboarding.</a:t>
            </a:r>
            <a:endParaRPr lang="en-US" sz="1500" dirty="0"/>
          </a:p>
        </p:txBody>
      </p:sp>
      <p:sp>
        <p:nvSpPr>
          <p:cNvPr id="8" name="Pillar Time"/>
          <p:cNvSpPr/>
          <p:nvPr/>
        </p:nvSpPr>
        <p:spPr>
          <a:xfrm>
            <a:off x="3459404" y="1965960"/>
            <a:ext cx="2499284" cy="3383280"/>
          </a:xfrm>
          <a:prstGeom prst="roundRect">
            <a:avLst>
              <a:gd name="adj" fmla="val 5854"/>
            </a:avLst>
          </a:prstGeom>
          <a:solidFill>
            <a:srgbClr val="172044"/>
          </a:solidFill>
          <a:ln w="9525">
            <a:solidFill>
              <a:srgbClr val="2E3B6B"/>
            </a:solidFill>
            <a:prstDash val="solid"/>
          </a:ln>
        </p:spPr>
      </p:sp>
      <p:pic>
        <p:nvPicPr>
          <p:cNvPr id="9" name="Image 1" descr="preencoded.png">    </p:cNvPr>
          <p:cNvPicPr>
            <a:picLocks noChangeAspect="1"/>
          </p:cNvPicPr>
          <p:nvPr/>
        </p:nvPicPr>
        <p:blipFill>
          <a:blip r:embed="rId2"/>
          <a:stretch>
            <a:fillRect/>
          </a:stretch>
        </p:blipFill>
        <p:spPr>
          <a:xfrm>
            <a:off x="3825164" y="2377440"/>
            <a:ext cx="502920" cy="502920"/>
          </a:xfrm>
          <a:prstGeom prst="rect">
            <a:avLst/>
          </a:prstGeom>
        </p:spPr>
      </p:pic>
      <p:sp>
        <p:nvSpPr>
          <p:cNvPr id="10" name="Text 6"/>
          <p:cNvSpPr txBox="1"/>
          <p:nvPr/>
        </p:nvSpPr>
        <p:spPr>
          <a:xfrm>
            <a:off x="3825164" y="3108960"/>
            <a:ext cx="1767764" cy="457200"/>
          </a:xfrm>
          <a:prstGeom prst="rect">
            <a:avLst/>
          </a:prstGeom>
          <a:noFill/>
          <a:ln/>
        </p:spPr>
        <p:txBody>
          <a:bodyPr wrap="square" lIns="0" tIns="0" rIns="0" bIns="0" rtlCol="0" anchor="t"/>
          <a:lstStyle/>
          <a:p>
            <a:pPr indent="0" marL="0">
              <a:buNone/>
            </a:pPr>
            <a:r>
              <a:rPr lang="en-US" sz="2200" b="1" dirty="0">
                <a:solidFill>
                  <a:srgbClr val="F6F7FB"/>
                </a:solidFill>
                <a:latin typeface="+mj-lt" pitchFamily="34" charset="0"/>
                <a:ea typeface="+mj-lt" pitchFamily="34" charset="-122"/>
                <a:cs typeface="+mj-lt" pitchFamily="34" charset="-120"/>
              </a:rPr>
              <a:t>Time</a:t>
            </a:r>
            <a:endParaRPr lang="en-US" sz="2200" dirty="0"/>
          </a:p>
        </p:txBody>
      </p:sp>
      <p:sp>
        <p:nvSpPr>
          <p:cNvPr id="11" name="Text 7"/>
          <p:cNvSpPr txBox="1"/>
          <p:nvPr/>
        </p:nvSpPr>
        <p:spPr>
          <a:xfrm>
            <a:off x="3825164" y="3703320"/>
            <a:ext cx="1767764" cy="1371600"/>
          </a:xfrm>
          <a:prstGeom prst="rect">
            <a:avLst/>
          </a:prstGeom>
          <a:noFill/>
          <a:ln/>
        </p:spPr>
        <p:txBody>
          <a:bodyPr wrap="square" lIns="0" tIns="0" rIns="0" bIns="0" rtlCol="0" anchor="t"/>
          <a:lstStyle/>
          <a:p>
            <a:pPr indent="0" marL="0">
              <a:lnSpc>
                <a:spcPct val="115000"/>
              </a:lnSpc>
              <a:buNone/>
            </a:pPr>
            <a:r>
              <a:rPr lang="en-US" sz="1500" dirty="0">
                <a:solidFill>
                  <a:srgbClr val="C3CBE0"/>
                </a:solidFill>
              </a:rPr>
              <a:t>Attendance, shifts, leave, holidays, overtime and WFH.</a:t>
            </a:r>
            <a:endParaRPr lang="en-US" sz="1500" dirty="0"/>
          </a:p>
        </p:txBody>
      </p:sp>
      <p:sp>
        <p:nvSpPr>
          <p:cNvPr id="12" name="Pillar Pay"/>
          <p:cNvSpPr/>
          <p:nvPr/>
        </p:nvSpPr>
        <p:spPr>
          <a:xfrm>
            <a:off x="6233008" y="1965960"/>
            <a:ext cx="2499284" cy="3383280"/>
          </a:xfrm>
          <a:prstGeom prst="roundRect">
            <a:avLst>
              <a:gd name="adj" fmla="val 5854"/>
            </a:avLst>
          </a:prstGeom>
          <a:solidFill>
            <a:srgbClr val="172044"/>
          </a:solidFill>
          <a:ln w="9525">
            <a:solidFill>
              <a:srgbClr val="2E3B6B"/>
            </a:solidFill>
            <a:prstDash val="solid"/>
          </a:ln>
        </p:spPr>
      </p:sp>
      <p:pic>
        <p:nvPicPr>
          <p:cNvPr id="13" name="Image 2" descr="preencoded.png">    </p:cNvPr>
          <p:cNvPicPr>
            <a:picLocks noChangeAspect="1"/>
          </p:cNvPicPr>
          <p:nvPr/>
        </p:nvPicPr>
        <p:blipFill>
          <a:blip r:embed="rId3"/>
          <a:stretch>
            <a:fillRect/>
          </a:stretch>
        </p:blipFill>
        <p:spPr>
          <a:xfrm>
            <a:off x="6598768" y="2377440"/>
            <a:ext cx="502920" cy="502920"/>
          </a:xfrm>
          <a:prstGeom prst="rect">
            <a:avLst/>
          </a:prstGeom>
        </p:spPr>
      </p:pic>
      <p:sp>
        <p:nvSpPr>
          <p:cNvPr id="14" name="Text 9"/>
          <p:cNvSpPr txBox="1"/>
          <p:nvPr/>
        </p:nvSpPr>
        <p:spPr>
          <a:xfrm>
            <a:off x="6598768" y="3108960"/>
            <a:ext cx="1767764" cy="457200"/>
          </a:xfrm>
          <a:prstGeom prst="rect">
            <a:avLst/>
          </a:prstGeom>
          <a:noFill/>
          <a:ln/>
        </p:spPr>
        <p:txBody>
          <a:bodyPr wrap="square" lIns="0" tIns="0" rIns="0" bIns="0" rtlCol="0" anchor="t"/>
          <a:lstStyle/>
          <a:p>
            <a:pPr indent="0" marL="0">
              <a:buNone/>
            </a:pPr>
            <a:r>
              <a:rPr lang="en-US" sz="2200" b="1" dirty="0">
                <a:solidFill>
                  <a:srgbClr val="F6F7FB"/>
                </a:solidFill>
                <a:latin typeface="+mj-lt" pitchFamily="34" charset="0"/>
                <a:ea typeface="+mj-lt" pitchFamily="34" charset="-122"/>
                <a:cs typeface="+mj-lt" pitchFamily="34" charset="-120"/>
              </a:rPr>
              <a:t>Pay</a:t>
            </a:r>
            <a:endParaRPr lang="en-US" sz="2200" dirty="0"/>
          </a:p>
        </p:txBody>
      </p:sp>
      <p:sp>
        <p:nvSpPr>
          <p:cNvPr id="15" name="Text 10"/>
          <p:cNvSpPr txBox="1"/>
          <p:nvPr/>
        </p:nvSpPr>
        <p:spPr>
          <a:xfrm>
            <a:off x="6598768" y="3703320"/>
            <a:ext cx="1767764" cy="1371600"/>
          </a:xfrm>
          <a:prstGeom prst="rect">
            <a:avLst/>
          </a:prstGeom>
          <a:noFill/>
          <a:ln/>
        </p:spPr>
        <p:txBody>
          <a:bodyPr wrap="square" lIns="0" tIns="0" rIns="0" bIns="0" rtlCol="0" anchor="t"/>
          <a:lstStyle/>
          <a:p>
            <a:pPr indent="0" marL="0">
              <a:lnSpc>
                <a:spcPct val="115000"/>
              </a:lnSpc>
              <a:buNone/>
            </a:pPr>
            <a:r>
              <a:rPr lang="en-US" sz="1500" dirty="0">
                <a:solidFill>
                  <a:srgbClr val="C3CBE0"/>
                </a:solidFill>
              </a:rPr>
              <a:t>Indian payroll with PF, ESI, PT, TDS and payslips.</a:t>
            </a:r>
            <a:endParaRPr lang="en-US" sz="1500" dirty="0"/>
          </a:p>
        </p:txBody>
      </p:sp>
      <p:sp>
        <p:nvSpPr>
          <p:cNvPr id="16" name="Pillar IT"/>
          <p:cNvSpPr/>
          <p:nvPr/>
        </p:nvSpPr>
        <p:spPr>
          <a:xfrm>
            <a:off x="9006611" y="1965960"/>
            <a:ext cx="2499284" cy="3383280"/>
          </a:xfrm>
          <a:prstGeom prst="roundRect">
            <a:avLst>
              <a:gd name="adj" fmla="val 5854"/>
            </a:avLst>
          </a:prstGeom>
          <a:solidFill>
            <a:srgbClr val="4169E1"/>
          </a:solidFill>
          <a:ln/>
          <a:effectLst>
            <a:outerShdw sx="100000" sy="100000" kx="0" ky="0" algn="bl" rotWithShape="0" blurRad="127000" dist="38100" dir="5400000">
              <a:srgbClr val="10172A">
                <a:alpha val="8000"/>
              </a:srgbClr>
            </a:outerShdw>
          </a:effectLst>
        </p:spPr>
      </p:sp>
      <p:pic>
        <p:nvPicPr>
          <p:cNvPr id="17" name="Image 3" descr="preencoded.png">    </p:cNvPr>
          <p:cNvPicPr>
            <a:picLocks noChangeAspect="1"/>
          </p:cNvPicPr>
          <p:nvPr/>
        </p:nvPicPr>
        <p:blipFill>
          <a:blip r:embed="rId4"/>
          <a:stretch>
            <a:fillRect/>
          </a:stretch>
        </p:blipFill>
        <p:spPr>
          <a:xfrm>
            <a:off x="9372371" y="2377440"/>
            <a:ext cx="502920" cy="502920"/>
          </a:xfrm>
          <a:prstGeom prst="rect">
            <a:avLst/>
          </a:prstGeom>
        </p:spPr>
      </p:pic>
      <p:sp>
        <p:nvSpPr>
          <p:cNvPr id="18" name="Text 12"/>
          <p:cNvSpPr txBox="1"/>
          <p:nvPr/>
        </p:nvSpPr>
        <p:spPr>
          <a:xfrm>
            <a:off x="9372371" y="3108960"/>
            <a:ext cx="1767764" cy="457200"/>
          </a:xfrm>
          <a:prstGeom prst="rect">
            <a:avLst/>
          </a:prstGeom>
          <a:noFill/>
          <a:ln/>
        </p:spPr>
        <p:txBody>
          <a:bodyPr wrap="square" lIns="0" tIns="0" rIns="0" bIns="0" rtlCol="0" anchor="t"/>
          <a:lstStyle/>
          <a:p>
            <a:pPr indent="0" marL="0">
              <a:buNone/>
            </a:pPr>
            <a:r>
              <a:rPr lang="en-US" sz="2200" b="1" dirty="0">
                <a:solidFill>
                  <a:srgbClr val="F6F7FB"/>
                </a:solidFill>
                <a:latin typeface="+mj-lt" pitchFamily="34" charset="0"/>
                <a:ea typeface="+mj-lt" pitchFamily="34" charset="-122"/>
                <a:cs typeface="+mj-lt" pitchFamily="34" charset="-120"/>
              </a:rPr>
              <a:t>IT</a:t>
            </a:r>
            <a:endParaRPr lang="en-US" sz="2200" dirty="0"/>
          </a:p>
        </p:txBody>
      </p:sp>
      <p:sp>
        <p:nvSpPr>
          <p:cNvPr id="19" name="Text 13"/>
          <p:cNvSpPr txBox="1"/>
          <p:nvPr/>
        </p:nvSpPr>
        <p:spPr>
          <a:xfrm>
            <a:off x="9372371" y="3703320"/>
            <a:ext cx="1767764" cy="1371600"/>
          </a:xfrm>
          <a:prstGeom prst="rect">
            <a:avLst/>
          </a:prstGeom>
          <a:noFill/>
          <a:ln/>
        </p:spPr>
        <p:txBody>
          <a:bodyPr wrap="square" lIns="0" tIns="0" rIns="0" bIns="0" rtlCol="0" anchor="t"/>
          <a:lstStyle/>
          <a:p>
            <a:pPr indent="0" marL="0">
              <a:lnSpc>
                <a:spcPct val="115000"/>
              </a:lnSpc>
              <a:buNone/>
            </a:pPr>
            <a:r>
              <a:rPr lang="en-US" sz="1500" dirty="0">
                <a:solidFill>
                  <a:srgbClr val="F1F3FF"/>
                </a:solidFill>
              </a:rPr>
              <a:t>Every company laptop, managed by the Vettri Agent.</a:t>
            </a:r>
            <a:endParaRPr lang="en-US" sz="1500" dirty="0"/>
          </a:p>
        </p:txBody>
      </p:sp>
      <p:sp>
        <p:nvSpPr>
          <p:cNvPr id="20" name="Text 14"/>
          <p:cNvSpPr txBox="1"/>
          <p:nvPr/>
        </p:nvSpPr>
        <p:spPr>
          <a:xfrm>
            <a:off x="685800" y="5669280"/>
            <a:ext cx="10820095" cy="365760"/>
          </a:xfrm>
          <a:prstGeom prst="rect">
            <a:avLst/>
          </a:prstGeom>
          <a:noFill/>
          <a:ln/>
        </p:spPr>
        <p:txBody>
          <a:bodyPr wrap="square" lIns="0" tIns="0" rIns="0" bIns="0" rtlCol="0" anchor="t"/>
          <a:lstStyle/>
          <a:p>
            <a:pPr indent="0" marL="0">
              <a:buNone/>
            </a:pPr>
            <a:r>
              <a:rPr lang="en-US" sz="1600" i="1" dirty="0">
                <a:solidFill>
                  <a:srgbClr val="C3CBE0"/>
                </a:solidFill>
              </a:rPr>
              <a:t>One login. One employee record. One place for IT.</a:t>
            </a:r>
            <a:endParaRPr lang="en-US" sz="1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3457C9"/>
                </a:solidFill>
              </a:rPr>
              <a:t>PEOPLE</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10172A"/>
                </a:solidFill>
                <a:latin typeface="Century Gothic" pitchFamily="34" charset="0"/>
                <a:ea typeface="Century Gothic" pitchFamily="34" charset="-122"/>
                <a:cs typeface="Century Gothic" pitchFamily="34" charset="-120"/>
              </a:rPr>
              <a:t>Every employee, in one clean record</a:t>
            </a:r>
            <a:endParaRPr lang="en-US" sz="3200" dirty="0"/>
          </a:p>
        </p:txBody>
      </p:sp>
      <p:sp>
        <p:nvSpPr>
          <p:cNvPr id="4" name="Core HR tile"/>
          <p:cNvSpPr/>
          <p:nvPr/>
        </p:nvSpPr>
        <p:spPr>
          <a:xfrm>
            <a:off x="685800" y="2011680"/>
            <a:ext cx="822960" cy="822960"/>
          </a:xfrm>
          <a:prstGeom prst="roundRect">
            <a:avLst>
              <a:gd name="adj" fmla="val 13333"/>
            </a:avLst>
          </a:prstGeom>
          <a:solidFill>
            <a:srgbClr val="E8EEFF"/>
          </a:solidFill>
          <a:ln/>
        </p:spPr>
      </p:sp>
      <p:pic>
        <p:nvPicPr>
          <p:cNvPr id="5" name="Image 0" descr="preencoded.png">    </p:cNvPr>
          <p:cNvPicPr>
            <a:picLocks noChangeAspect="1"/>
          </p:cNvPicPr>
          <p:nvPr/>
        </p:nvPicPr>
        <p:blipFill>
          <a:blip r:embed="rId1"/>
          <a:stretch>
            <a:fillRect/>
          </a:stretch>
        </p:blipFill>
        <p:spPr>
          <a:xfrm>
            <a:off x="891540" y="2217420"/>
            <a:ext cx="411480" cy="411480"/>
          </a:xfrm>
          <a:prstGeom prst="rect">
            <a:avLst/>
          </a:prstGeom>
        </p:spPr>
      </p:pic>
      <p:sp>
        <p:nvSpPr>
          <p:cNvPr id="6" name="Text 3"/>
          <p:cNvSpPr txBox="1"/>
          <p:nvPr/>
        </p:nvSpPr>
        <p:spPr>
          <a:xfrm>
            <a:off x="685800" y="3063240"/>
            <a:ext cx="3749040" cy="1645920"/>
          </a:xfrm>
          <a:prstGeom prst="rect">
            <a:avLst/>
          </a:prstGeom>
          <a:noFill/>
          <a:ln/>
        </p:spPr>
        <p:txBody>
          <a:bodyPr wrap="square" lIns="0" tIns="0" rIns="0" bIns="0" rtlCol="0" anchor="t"/>
          <a:lstStyle/>
          <a:p>
            <a:pPr indent="0" marL="0">
              <a:lnSpc>
                <a:spcPct val="115000"/>
              </a:lnSpc>
              <a:buNone/>
            </a:pPr>
            <a:r>
              <a:rPr lang="en-US" sz="2000" dirty="0">
                <a:solidFill>
                  <a:srgbClr val="4A5568"/>
                </a:solidFill>
              </a:rPr>
              <a:t>From the offer letter to the last working day, everything about a person lives in one place.</a:t>
            </a:r>
            <a:endParaRPr lang="en-US" sz="2000" dirty="0"/>
          </a:p>
        </p:txBody>
      </p:sp>
      <p:sp>
        <p:nvSpPr>
          <p:cNvPr id="7" name="Core HR Employee directory"/>
          <p:cNvSpPr/>
          <p:nvPr/>
        </p:nvSpPr>
        <p:spPr>
          <a:xfrm>
            <a:off x="4846320" y="1920240"/>
            <a:ext cx="3192628" cy="1188720"/>
          </a:xfrm>
          <a:prstGeom prst="roundRect">
            <a:avLst>
              <a:gd name="adj" fmla="val 12308"/>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8" name="Text 5"/>
          <p:cNvSpPr txBox="1"/>
          <p:nvPr/>
        </p:nvSpPr>
        <p:spPr>
          <a:xfrm>
            <a:off x="5120640" y="2148840"/>
            <a:ext cx="2643988" cy="365760"/>
          </a:xfrm>
          <a:prstGeom prst="rect">
            <a:avLst/>
          </a:prstGeom>
          <a:noFill/>
          <a:ln/>
        </p:spPr>
        <p:txBody>
          <a:bodyPr wrap="square" lIns="0" tIns="0" rIns="0" bIns="0" rtlCol="0" anchor="t"/>
          <a:lstStyle/>
          <a:p>
            <a:pPr indent="0" marL="0">
              <a:buNone/>
            </a:pPr>
            <a:r>
              <a:rPr lang="en-US" sz="1700" b="1" dirty="0">
                <a:solidFill>
                  <a:srgbClr val="10172A"/>
                </a:solidFill>
                <a:latin typeface="+mj-lt" pitchFamily="34" charset="0"/>
                <a:ea typeface="+mj-lt" pitchFamily="34" charset="-122"/>
                <a:cs typeface="+mj-lt" pitchFamily="34" charset="-120"/>
              </a:rPr>
              <a:t>Employee directory</a:t>
            </a:r>
            <a:endParaRPr lang="en-US" sz="1700" dirty="0"/>
          </a:p>
        </p:txBody>
      </p:sp>
      <p:sp>
        <p:nvSpPr>
          <p:cNvPr id="9" name="Text 6"/>
          <p:cNvSpPr txBox="1"/>
          <p:nvPr/>
        </p:nvSpPr>
        <p:spPr>
          <a:xfrm>
            <a:off x="5120640" y="2560320"/>
            <a:ext cx="2643988" cy="411480"/>
          </a:xfrm>
          <a:prstGeom prst="rect">
            <a:avLst/>
          </a:prstGeom>
          <a:noFill/>
          <a:ln/>
        </p:spPr>
        <p:txBody>
          <a:bodyPr wrap="square" lIns="0" tIns="0" rIns="0" bIns="0" rtlCol="0" anchor="t"/>
          <a:lstStyle/>
          <a:p>
            <a:pPr indent="0" marL="0">
              <a:buNone/>
            </a:pPr>
            <a:r>
              <a:rPr lang="en-US" sz="1400" dirty="0">
                <a:solidFill>
                  <a:srgbClr val="4A5568"/>
                </a:solidFill>
              </a:rPr>
              <a:t>Profiles, departments and an org chart.</a:t>
            </a:r>
            <a:endParaRPr lang="en-US" sz="1400" dirty="0"/>
          </a:p>
        </p:txBody>
      </p:sp>
      <p:sp>
        <p:nvSpPr>
          <p:cNvPr id="10" name="Core HR Bulk import"/>
          <p:cNvSpPr/>
          <p:nvPr/>
        </p:nvSpPr>
        <p:spPr>
          <a:xfrm>
            <a:off x="8313268" y="1920240"/>
            <a:ext cx="3192628" cy="1188720"/>
          </a:xfrm>
          <a:prstGeom prst="roundRect">
            <a:avLst>
              <a:gd name="adj" fmla="val 12308"/>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1" name="Text 8"/>
          <p:cNvSpPr txBox="1"/>
          <p:nvPr/>
        </p:nvSpPr>
        <p:spPr>
          <a:xfrm>
            <a:off x="8587588" y="2148840"/>
            <a:ext cx="2643988" cy="365760"/>
          </a:xfrm>
          <a:prstGeom prst="rect">
            <a:avLst/>
          </a:prstGeom>
          <a:noFill/>
          <a:ln/>
        </p:spPr>
        <p:txBody>
          <a:bodyPr wrap="square" lIns="0" tIns="0" rIns="0" bIns="0" rtlCol="0" anchor="t"/>
          <a:lstStyle/>
          <a:p>
            <a:pPr indent="0" marL="0">
              <a:buNone/>
            </a:pPr>
            <a:r>
              <a:rPr lang="en-US" sz="1700" b="1" dirty="0">
                <a:solidFill>
                  <a:srgbClr val="10172A"/>
                </a:solidFill>
                <a:latin typeface="+mj-lt" pitchFamily="34" charset="0"/>
                <a:ea typeface="+mj-lt" pitchFamily="34" charset="-122"/>
                <a:cs typeface="+mj-lt" pitchFamily="34" charset="-120"/>
              </a:rPr>
              <a:t>Bulk import</a:t>
            </a:r>
            <a:endParaRPr lang="en-US" sz="1700" dirty="0"/>
          </a:p>
        </p:txBody>
      </p:sp>
      <p:sp>
        <p:nvSpPr>
          <p:cNvPr id="12" name="Text 9"/>
          <p:cNvSpPr txBox="1"/>
          <p:nvPr/>
        </p:nvSpPr>
        <p:spPr>
          <a:xfrm>
            <a:off x="8587588" y="2560320"/>
            <a:ext cx="2643988" cy="411480"/>
          </a:xfrm>
          <a:prstGeom prst="rect">
            <a:avLst/>
          </a:prstGeom>
          <a:noFill/>
          <a:ln/>
        </p:spPr>
        <p:txBody>
          <a:bodyPr wrap="square" lIns="0" tIns="0" rIns="0" bIns="0" rtlCol="0" anchor="t"/>
          <a:lstStyle/>
          <a:p>
            <a:pPr indent="0" marL="0">
              <a:buNone/>
            </a:pPr>
            <a:r>
              <a:rPr lang="en-US" sz="1400" dirty="0">
                <a:solidFill>
                  <a:srgbClr val="4A5568"/>
                </a:solidFill>
              </a:rPr>
              <a:t>Bring all employees in from Excel.</a:t>
            </a:r>
            <a:endParaRPr lang="en-US" sz="1400" dirty="0"/>
          </a:p>
        </p:txBody>
      </p:sp>
      <p:sp>
        <p:nvSpPr>
          <p:cNvPr id="13" name="Core HR Documents"/>
          <p:cNvSpPr/>
          <p:nvPr/>
        </p:nvSpPr>
        <p:spPr>
          <a:xfrm>
            <a:off x="4846320" y="3337560"/>
            <a:ext cx="3192628" cy="1188720"/>
          </a:xfrm>
          <a:prstGeom prst="roundRect">
            <a:avLst>
              <a:gd name="adj" fmla="val 12308"/>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4" name="Text 11"/>
          <p:cNvSpPr txBox="1"/>
          <p:nvPr/>
        </p:nvSpPr>
        <p:spPr>
          <a:xfrm>
            <a:off x="5120640" y="3566160"/>
            <a:ext cx="2643988" cy="365760"/>
          </a:xfrm>
          <a:prstGeom prst="rect">
            <a:avLst/>
          </a:prstGeom>
          <a:noFill/>
          <a:ln/>
        </p:spPr>
        <p:txBody>
          <a:bodyPr wrap="square" lIns="0" tIns="0" rIns="0" bIns="0" rtlCol="0" anchor="t"/>
          <a:lstStyle/>
          <a:p>
            <a:pPr indent="0" marL="0">
              <a:buNone/>
            </a:pPr>
            <a:r>
              <a:rPr lang="en-US" sz="1700" b="1" dirty="0">
                <a:solidFill>
                  <a:srgbClr val="10172A"/>
                </a:solidFill>
                <a:latin typeface="+mj-lt" pitchFamily="34" charset="0"/>
                <a:ea typeface="+mj-lt" pitchFamily="34" charset="-122"/>
                <a:cs typeface="+mj-lt" pitchFamily="34" charset="-120"/>
              </a:rPr>
              <a:t>Documents</a:t>
            </a:r>
            <a:endParaRPr lang="en-US" sz="1700" dirty="0"/>
          </a:p>
        </p:txBody>
      </p:sp>
      <p:sp>
        <p:nvSpPr>
          <p:cNvPr id="15" name="Text 12"/>
          <p:cNvSpPr txBox="1"/>
          <p:nvPr/>
        </p:nvSpPr>
        <p:spPr>
          <a:xfrm>
            <a:off x="5120640" y="3977640"/>
            <a:ext cx="2643988" cy="411480"/>
          </a:xfrm>
          <a:prstGeom prst="rect">
            <a:avLst/>
          </a:prstGeom>
          <a:noFill/>
          <a:ln/>
        </p:spPr>
        <p:txBody>
          <a:bodyPr wrap="square" lIns="0" tIns="0" rIns="0" bIns="0" rtlCol="0" anchor="t"/>
          <a:lstStyle/>
          <a:p>
            <a:pPr indent="0" marL="0">
              <a:buNone/>
            </a:pPr>
            <a:r>
              <a:rPr lang="en-US" sz="1400" dirty="0">
                <a:solidFill>
                  <a:srgbClr val="4A5568"/>
                </a:solidFill>
              </a:rPr>
              <a:t>ID proofs and certificates, stored safely.</a:t>
            </a:r>
            <a:endParaRPr lang="en-US" sz="1400" dirty="0"/>
          </a:p>
        </p:txBody>
      </p:sp>
      <p:sp>
        <p:nvSpPr>
          <p:cNvPr id="16" name="Core HR Letters"/>
          <p:cNvSpPr/>
          <p:nvPr/>
        </p:nvSpPr>
        <p:spPr>
          <a:xfrm>
            <a:off x="8313268" y="3337560"/>
            <a:ext cx="3192628" cy="1188720"/>
          </a:xfrm>
          <a:prstGeom prst="roundRect">
            <a:avLst>
              <a:gd name="adj" fmla="val 12308"/>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7" name="Text 14"/>
          <p:cNvSpPr txBox="1"/>
          <p:nvPr/>
        </p:nvSpPr>
        <p:spPr>
          <a:xfrm>
            <a:off x="8587588" y="3566160"/>
            <a:ext cx="2643988" cy="365760"/>
          </a:xfrm>
          <a:prstGeom prst="rect">
            <a:avLst/>
          </a:prstGeom>
          <a:noFill/>
          <a:ln/>
        </p:spPr>
        <p:txBody>
          <a:bodyPr wrap="square" lIns="0" tIns="0" rIns="0" bIns="0" rtlCol="0" anchor="t"/>
          <a:lstStyle/>
          <a:p>
            <a:pPr indent="0" marL="0">
              <a:buNone/>
            </a:pPr>
            <a:r>
              <a:rPr lang="en-US" sz="1700" b="1" dirty="0">
                <a:solidFill>
                  <a:srgbClr val="10172A"/>
                </a:solidFill>
                <a:latin typeface="+mj-lt" pitchFamily="34" charset="0"/>
                <a:ea typeface="+mj-lt" pitchFamily="34" charset="-122"/>
                <a:cs typeface="+mj-lt" pitchFamily="34" charset="-120"/>
              </a:rPr>
              <a:t>Letters</a:t>
            </a:r>
            <a:endParaRPr lang="en-US" sz="1700" dirty="0"/>
          </a:p>
        </p:txBody>
      </p:sp>
      <p:sp>
        <p:nvSpPr>
          <p:cNvPr id="18" name="Text 15"/>
          <p:cNvSpPr txBox="1"/>
          <p:nvPr/>
        </p:nvSpPr>
        <p:spPr>
          <a:xfrm>
            <a:off x="8587588" y="3977640"/>
            <a:ext cx="2643988" cy="411480"/>
          </a:xfrm>
          <a:prstGeom prst="rect">
            <a:avLst/>
          </a:prstGeom>
          <a:noFill/>
          <a:ln/>
        </p:spPr>
        <p:txBody>
          <a:bodyPr wrap="square" lIns="0" tIns="0" rIns="0" bIns="0" rtlCol="0" anchor="t"/>
          <a:lstStyle/>
          <a:p>
            <a:pPr indent="0" marL="0">
              <a:buNone/>
            </a:pPr>
            <a:r>
              <a:rPr lang="en-US" sz="1400" dirty="0">
                <a:solidFill>
                  <a:srgbClr val="4A5568"/>
                </a:solidFill>
              </a:rPr>
              <a:t>Offer and experience letters from templates.</a:t>
            </a:r>
            <a:endParaRPr lang="en-US" sz="1400" dirty="0"/>
          </a:p>
        </p:txBody>
      </p:sp>
      <p:sp>
        <p:nvSpPr>
          <p:cNvPr id="19" name="Core HR Onboarding"/>
          <p:cNvSpPr/>
          <p:nvPr/>
        </p:nvSpPr>
        <p:spPr>
          <a:xfrm>
            <a:off x="4846320" y="4754880"/>
            <a:ext cx="3192628" cy="1188720"/>
          </a:xfrm>
          <a:prstGeom prst="roundRect">
            <a:avLst>
              <a:gd name="adj" fmla="val 12308"/>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20" name="Text 17"/>
          <p:cNvSpPr txBox="1"/>
          <p:nvPr/>
        </p:nvSpPr>
        <p:spPr>
          <a:xfrm>
            <a:off x="5120640" y="4983480"/>
            <a:ext cx="2643988" cy="365760"/>
          </a:xfrm>
          <a:prstGeom prst="rect">
            <a:avLst/>
          </a:prstGeom>
          <a:noFill/>
          <a:ln/>
        </p:spPr>
        <p:txBody>
          <a:bodyPr wrap="square" lIns="0" tIns="0" rIns="0" bIns="0" rtlCol="0" anchor="t"/>
          <a:lstStyle/>
          <a:p>
            <a:pPr indent="0" marL="0">
              <a:buNone/>
            </a:pPr>
            <a:r>
              <a:rPr lang="en-US" sz="1700" b="1" dirty="0">
                <a:solidFill>
                  <a:srgbClr val="10172A"/>
                </a:solidFill>
                <a:latin typeface="+mj-lt" pitchFamily="34" charset="0"/>
                <a:ea typeface="+mj-lt" pitchFamily="34" charset="-122"/>
                <a:cs typeface="+mj-lt" pitchFamily="34" charset="-120"/>
              </a:rPr>
              <a:t>Onboarding</a:t>
            </a:r>
            <a:endParaRPr lang="en-US" sz="1700" dirty="0"/>
          </a:p>
        </p:txBody>
      </p:sp>
      <p:sp>
        <p:nvSpPr>
          <p:cNvPr id="21" name="Text 18"/>
          <p:cNvSpPr txBox="1"/>
          <p:nvPr/>
        </p:nvSpPr>
        <p:spPr>
          <a:xfrm>
            <a:off x="5120640" y="5394960"/>
            <a:ext cx="2643988" cy="411480"/>
          </a:xfrm>
          <a:prstGeom prst="rect">
            <a:avLst/>
          </a:prstGeom>
          <a:noFill/>
          <a:ln/>
        </p:spPr>
        <p:txBody>
          <a:bodyPr wrap="square" lIns="0" tIns="0" rIns="0" bIns="0" rtlCol="0" anchor="t"/>
          <a:lstStyle/>
          <a:p>
            <a:pPr indent="0" marL="0">
              <a:buNone/>
            </a:pPr>
            <a:r>
              <a:rPr lang="en-US" sz="1400" dirty="0">
                <a:solidFill>
                  <a:srgbClr val="4A5568"/>
                </a:solidFill>
              </a:rPr>
              <a:t>Checklists so new joiners start right.</a:t>
            </a:r>
            <a:endParaRPr lang="en-US" sz="1400" dirty="0"/>
          </a:p>
        </p:txBody>
      </p:sp>
      <p:sp>
        <p:nvSpPr>
          <p:cNvPr id="22" name="Core HR Custom fields"/>
          <p:cNvSpPr/>
          <p:nvPr/>
        </p:nvSpPr>
        <p:spPr>
          <a:xfrm>
            <a:off x="8313268" y="4754880"/>
            <a:ext cx="3192628" cy="1188720"/>
          </a:xfrm>
          <a:prstGeom prst="roundRect">
            <a:avLst>
              <a:gd name="adj" fmla="val 12308"/>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23" name="Text 20"/>
          <p:cNvSpPr txBox="1"/>
          <p:nvPr/>
        </p:nvSpPr>
        <p:spPr>
          <a:xfrm>
            <a:off x="8587588" y="4983480"/>
            <a:ext cx="2643988" cy="365760"/>
          </a:xfrm>
          <a:prstGeom prst="rect">
            <a:avLst/>
          </a:prstGeom>
          <a:noFill/>
          <a:ln/>
        </p:spPr>
        <p:txBody>
          <a:bodyPr wrap="square" lIns="0" tIns="0" rIns="0" bIns="0" rtlCol="0" anchor="t"/>
          <a:lstStyle/>
          <a:p>
            <a:pPr indent="0" marL="0">
              <a:buNone/>
            </a:pPr>
            <a:r>
              <a:rPr lang="en-US" sz="1700" b="1" dirty="0">
                <a:solidFill>
                  <a:srgbClr val="10172A"/>
                </a:solidFill>
                <a:latin typeface="+mj-lt" pitchFamily="34" charset="0"/>
                <a:ea typeface="+mj-lt" pitchFamily="34" charset="-122"/>
                <a:cs typeface="+mj-lt" pitchFamily="34" charset="-120"/>
              </a:rPr>
              <a:t>Custom fields</a:t>
            </a:r>
            <a:endParaRPr lang="en-US" sz="1700" dirty="0"/>
          </a:p>
        </p:txBody>
      </p:sp>
      <p:sp>
        <p:nvSpPr>
          <p:cNvPr id="24" name="Text 21"/>
          <p:cNvSpPr txBox="1"/>
          <p:nvPr/>
        </p:nvSpPr>
        <p:spPr>
          <a:xfrm>
            <a:off x="8587588" y="5394960"/>
            <a:ext cx="2643988" cy="411480"/>
          </a:xfrm>
          <a:prstGeom prst="rect">
            <a:avLst/>
          </a:prstGeom>
          <a:noFill/>
          <a:ln/>
        </p:spPr>
        <p:txBody>
          <a:bodyPr wrap="square" lIns="0" tIns="0" rIns="0" bIns="0" rtlCol="0" anchor="t"/>
          <a:lstStyle/>
          <a:p>
            <a:pPr indent="0" marL="0">
              <a:buNone/>
            </a:pPr>
            <a:r>
              <a:rPr lang="en-US" sz="1400" dirty="0">
                <a:solidFill>
                  <a:srgbClr val="4A5568"/>
                </a:solidFill>
              </a:rPr>
              <a:t>Track whatever your company needs.</a:t>
            </a:r>
            <a:endParaRPr lang="en-US"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3457C9"/>
                </a:solidFill>
              </a:rPr>
              <a:t>TIME</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10172A"/>
                </a:solidFill>
                <a:latin typeface="Century Gothic" pitchFamily="34" charset="0"/>
                <a:ea typeface="Century Gothic" pitchFamily="34" charset="-122"/>
                <a:cs typeface="Century Gothic" pitchFamily="34" charset="-120"/>
              </a:rPr>
              <a:t>Attendance you can actually trust</a:t>
            </a:r>
            <a:endParaRPr lang="en-US" sz="3200" dirty="0"/>
          </a:p>
        </p:txBody>
      </p:sp>
      <p:sp>
        <p:nvSpPr>
          <p:cNvPr id="4" name="Attendance Selfie + GPS"/>
          <p:cNvSpPr/>
          <p:nvPr/>
        </p:nvSpPr>
        <p:spPr>
          <a:xfrm>
            <a:off x="685800" y="1920240"/>
            <a:ext cx="3423818" cy="1783080"/>
          </a:xfrm>
          <a:prstGeom prst="roundRect">
            <a:avLst>
              <a:gd name="adj" fmla="val 8205"/>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5" name="Attendance Selfie + GPS tile"/>
          <p:cNvSpPr/>
          <p:nvPr/>
        </p:nvSpPr>
        <p:spPr>
          <a:xfrm>
            <a:off x="960120" y="2240280"/>
            <a:ext cx="640080" cy="640080"/>
          </a:xfrm>
          <a:prstGeom prst="roundRect">
            <a:avLst>
              <a:gd name="adj" fmla="val 17143"/>
            </a:avLst>
          </a:prstGeom>
          <a:solidFill>
            <a:srgbClr val="E8EEFF"/>
          </a:solidFill>
          <a:ln/>
        </p:spPr>
      </p:sp>
      <p:pic>
        <p:nvPicPr>
          <p:cNvPr id="6" name="Image 0" descr="preencoded.png">    </p:cNvPr>
          <p:cNvPicPr>
            <a:picLocks noChangeAspect="1"/>
          </p:cNvPicPr>
          <p:nvPr/>
        </p:nvPicPr>
        <p:blipFill>
          <a:blip r:embed="rId1"/>
          <a:stretch>
            <a:fillRect/>
          </a:stretch>
        </p:blipFill>
        <p:spPr>
          <a:xfrm>
            <a:off x="1120140" y="2400300"/>
            <a:ext cx="320040" cy="320040"/>
          </a:xfrm>
          <a:prstGeom prst="rect">
            <a:avLst/>
          </a:prstGeom>
        </p:spPr>
      </p:pic>
      <p:sp>
        <p:nvSpPr>
          <p:cNvPr id="7" name="Text 4"/>
          <p:cNvSpPr txBox="1"/>
          <p:nvPr/>
        </p:nvSpPr>
        <p:spPr>
          <a:xfrm>
            <a:off x="1737360" y="2240280"/>
            <a:ext cx="2189378" cy="411480"/>
          </a:xfrm>
          <a:prstGeom prst="rect">
            <a:avLst/>
          </a:prstGeom>
          <a:noFill/>
          <a:ln/>
        </p:spPr>
        <p:txBody>
          <a:bodyPr wrap="square" lIns="0" tIns="0" rIns="0" bIns="0" rtlCol="0" anchor="t"/>
          <a:lstStyle/>
          <a:p>
            <a:pPr indent="0" marL="0">
              <a:buNone/>
            </a:pPr>
            <a:r>
              <a:rPr lang="en-US" sz="1600" b="1" dirty="0">
                <a:solidFill>
                  <a:srgbClr val="10172A"/>
                </a:solidFill>
                <a:latin typeface="+mj-lt" pitchFamily="34" charset="0"/>
                <a:ea typeface="+mj-lt" pitchFamily="34" charset="-122"/>
                <a:cs typeface="+mj-lt" pitchFamily="34" charset="-120"/>
              </a:rPr>
              <a:t>Selfie + GPS</a:t>
            </a:r>
            <a:endParaRPr lang="en-US" sz="1600" dirty="0"/>
          </a:p>
        </p:txBody>
      </p:sp>
      <p:sp>
        <p:nvSpPr>
          <p:cNvPr id="8" name="Text 5"/>
          <p:cNvSpPr txBox="1"/>
          <p:nvPr/>
        </p:nvSpPr>
        <p:spPr>
          <a:xfrm>
            <a:off x="1737360" y="2697480"/>
            <a:ext cx="2189378" cy="822960"/>
          </a:xfrm>
          <a:prstGeom prst="rect">
            <a:avLst/>
          </a:prstGeom>
          <a:noFill/>
          <a:ln/>
        </p:spPr>
        <p:txBody>
          <a:bodyPr wrap="square" lIns="0" tIns="0" rIns="0" bIns="0" rtlCol="0" anchor="t"/>
          <a:lstStyle/>
          <a:p>
            <a:pPr indent="0" marL="0">
              <a:lnSpc>
                <a:spcPct val="110000"/>
              </a:lnSpc>
              <a:buNone/>
            </a:pPr>
            <a:r>
              <a:rPr lang="en-US" sz="1400" dirty="0">
                <a:solidFill>
                  <a:srgbClr val="4A5568"/>
                </a:solidFill>
              </a:rPr>
              <a:t>Check in from phone or web, inside the office radius.</a:t>
            </a:r>
            <a:endParaRPr lang="en-US" sz="1400" dirty="0"/>
          </a:p>
        </p:txBody>
      </p:sp>
      <p:sp>
        <p:nvSpPr>
          <p:cNvPr id="9" name="Attendance Biometric"/>
          <p:cNvSpPr/>
          <p:nvPr/>
        </p:nvSpPr>
        <p:spPr>
          <a:xfrm>
            <a:off x="4383938" y="1920240"/>
            <a:ext cx="3423818" cy="1783080"/>
          </a:xfrm>
          <a:prstGeom prst="roundRect">
            <a:avLst>
              <a:gd name="adj" fmla="val 8205"/>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0" name="Attendance Biometric tile"/>
          <p:cNvSpPr/>
          <p:nvPr/>
        </p:nvSpPr>
        <p:spPr>
          <a:xfrm>
            <a:off x="4658258" y="2240280"/>
            <a:ext cx="640080" cy="640080"/>
          </a:xfrm>
          <a:prstGeom prst="roundRect">
            <a:avLst>
              <a:gd name="adj" fmla="val 17143"/>
            </a:avLst>
          </a:prstGeom>
          <a:solidFill>
            <a:srgbClr val="E8EEFF"/>
          </a:solidFill>
          <a:ln/>
        </p:spPr>
      </p:sp>
      <p:pic>
        <p:nvPicPr>
          <p:cNvPr id="11" name="Image 1" descr="preencoded.png">    </p:cNvPr>
          <p:cNvPicPr>
            <a:picLocks noChangeAspect="1"/>
          </p:cNvPicPr>
          <p:nvPr/>
        </p:nvPicPr>
        <p:blipFill>
          <a:blip r:embed="rId2"/>
          <a:stretch>
            <a:fillRect/>
          </a:stretch>
        </p:blipFill>
        <p:spPr>
          <a:xfrm>
            <a:off x="4818278" y="2400300"/>
            <a:ext cx="320040" cy="320040"/>
          </a:xfrm>
          <a:prstGeom prst="rect">
            <a:avLst/>
          </a:prstGeom>
        </p:spPr>
      </p:pic>
      <p:sp>
        <p:nvSpPr>
          <p:cNvPr id="12" name="Text 8"/>
          <p:cNvSpPr txBox="1"/>
          <p:nvPr/>
        </p:nvSpPr>
        <p:spPr>
          <a:xfrm>
            <a:off x="5435498" y="2240280"/>
            <a:ext cx="2189378" cy="411480"/>
          </a:xfrm>
          <a:prstGeom prst="rect">
            <a:avLst/>
          </a:prstGeom>
          <a:noFill/>
          <a:ln/>
        </p:spPr>
        <p:txBody>
          <a:bodyPr wrap="square" lIns="0" tIns="0" rIns="0" bIns="0" rtlCol="0" anchor="t"/>
          <a:lstStyle/>
          <a:p>
            <a:pPr indent="0" marL="0">
              <a:buNone/>
            </a:pPr>
            <a:r>
              <a:rPr lang="en-US" sz="1600" b="1" dirty="0">
                <a:solidFill>
                  <a:srgbClr val="10172A"/>
                </a:solidFill>
                <a:latin typeface="+mj-lt" pitchFamily="34" charset="0"/>
                <a:ea typeface="+mj-lt" pitchFamily="34" charset="-122"/>
                <a:cs typeface="+mj-lt" pitchFamily="34" charset="-120"/>
              </a:rPr>
              <a:t>Biometric</a:t>
            </a:r>
            <a:endParaRPr lang="en-US" sz="1600" dirty="0"/>
          </a:p>
        </p:txBody>
      </p:sp>
      <p:sp>
        <p:nvSpPr>
          <p:cNvPr id="13" name="Text 9"/>
          <p:cNvSpPr txBox="1"/>
          <p:nvPr/>
        </p:nvSpPr>
        <p:spPr>
          <a:xfrm>
            <a:off x="5435498" y="2697480"/>
            <a:ext cx="2189378" cy="822960"/>
          </a:xfrm>
          <a:prstGeom prst="rect">
            <a:avLst/>
          </a:prstGeom>
          <a:noFill/>
          <a:ln/>
        </p:spPr>
        <p:txBody>
          <a:bodyPr wrap="square" lIns="0" tIns="0" rIns="0" bIns="0" rtlCol="0" anchor="t"/>
          <a:lstStyle/>
          <a:p>
            <a:pPr indent="0" marL="0">
              <a:lnSpc>
                <a:spcPct val="110000"/>
              </a:lnSpc>
              <a:buNone/>
            </a:pPr>
            <a:r>
              <a:rPr lang="en-US" sz="1400" dirty="0">
                <a:solidFill>
                  <a:srgbClr val="4A5568"/>
                </a:solidFill>
              </a:rPr>
              <a:t>Punches from biometric machines flow in automatically.</a:t>
            </a:r>
            <a:endParaRPr lang="en-US" sz="1400" dirty="0"/>
          </a:p>
        </p:txBody>
      </p:sp>
      <p:sp>
        <p:nvSpPr>
          <p:cNvPr id="14" name="Attendance Work from home"/>
          <p:cNvSpPr/>
          <p:nvPr/>
        </p:nvSpPr>
        <p:spPr>
          <a:xfrm>
            <a:off x="8082077" y="1920240"/>
            <a:ext cx="3423818" cy="1783080"/>
          </a:xfrm>
          <a:prstGeom prst="roundRect">
            <a:avLst>
              <a:gd name="adj" fmla="val 8205"/>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5" name="Attendance Work from home tile"/>
          <p:cNvSpPr/>
          <p:nvPr/>
        </p:nvSpPr>
        <p:spPr>
          <a:xfrm>
            <a:off x="8356397" y="2240280"/>
            <a:ext cx="640080" cy="640080"/>
          </a:xfrm>
          <a:prstGeom prst="roundRect">
            <a:avLst>
              <a:gd name="adj" fmla="val 17143"/>
            </a:avLst>
          </a:prstGeom>
          <a:solidFill>
            <a:srgbClr val="E8EEFF"/>
          </a:solidFill>
          <a:ln/>
        </p:spPr>
      </p:sp>
      <p:pic>
        <p:nvPicPr>
          <p:cNvPr id="16" name="Image 2" descr="preencoded.png">    </p:cNvPr>
          <p:cNvPicPr>
            <a:picLocks noChangeAspect="1"/>
          </p:cNvPicPr>
          <p:nvPr/>
        </p:nvPicPr>
        <p:blipFill>
          <a:blip r:embed="rId3"/>
          <a:stretch>
            <a:fillRect/>
          </a:stretch>
        </p:blipFill>
        <p:spPr>
          <a:xfrm>
            <a:off x="8516417" y="2400300"/>
            <a:ext cx="320040" cy="320040"/>
          </a:xfrm>
          <a:prstGeom prst="rect">
            <a:avLst/>
          </a:prstGeom>
        </p:spPr>
      </p:pic>
      <p:sp>
        <p:nvSpPr>
          <p:cNvPr id="17" name="Text 12"/>
          <p:cNvSpPr txBox="1"/>
          <p:nvPr/>
        </p:nvSpPr>
        <p:spPr>
          <a:xfrm>
            <a:off x="9133637" y="2240280"/>
            <a:ext cx="2189378" cy="411480"/>
          </a:xfrm>
          <a:prstGeom prst="rect">
            <a:avLst/>
          </a:prstGeom>
          <a:noFill/>
          <a:ln/>
        </p:spPr>
        <p:txBody>
          <a:bodyPr wrap="square" lIns="0" tIns="0" rIns="0" bIns="0" rtlCol="0" anchor="t"/>
          <a:lstStyle/>
          <a:p>
            <a:pPr indent="0" marL="0">
              <a:buNone/>
            </a:pPr>
            <a:r>
              <a:rPr lang="en-US" sz="1600" b="1" dirty="0">
                <a:solidFill>
                  <a:srgbClr val="10172A"/>
                </a:solidFill>
                <a:latin typeface="+mj-lt" pitchFamily="34" charset="0"/>
                <a:ea typeface="+mj-lt" pitchFamily="34" charset="-122"/>
                <a:cs typeface="+mj-lt" pitchFamily="34" charset="-120"/>
              </a:rPr>
              <a:t>Work from home</a:t>
            </a:r>
            <a:endParaRPr lang="en-US" sz="1600" dirty="0"/>
          </a:p>
        </p:txBody>
      </p:sp>
      <p:sp>
        <p:nvSpPr>
          <p:cNvPr id="18" name="Text 13"/>
          <p:cNvSpPr txBox="1"/>
          <p:nvPr/>
        </p:nvSpPr>
        <p:spPr>
          <a:xfrm>
            <a:off x="9133637" y="2697480"/>
            <a:ext cx="2189378" cy="822960"/>
          </a:xfrm>
          <a:prstGeom prst="rect">
            <a:avLst/>
          </a:prstGeom>
          <a:noFill/>
          <a:ln/>
        </p:spPr>
        <p:txBody>
          <a:bodyPr wrap="square" lIns="0" tIns="0" rIns="0" bIns="0" rtlCol="0" anchor="t"/>
          <a:lstStyle/>
          <a:p>
            <a:pPr indent="0" marL="0">
              <a:lnSpc>
                <a:spcPct val="110000"/>
              </a:lnSpc>
              <a:buNone/>
            </a:pPr>
            <a:r>
              <a:rPr lang="en-US" sz="1400" dirty="0">
                <a:solidFill>
                  <a:srgbClr val="4A5568"/>
                </a:solidFill>
              </a:rPr>
              <a:t>WFH requests and approvals, then clock in from the laptop.</a:t>
            </a:r>
            <a:endParaRPr lang="en-US" sz="1400" dirty="0"/>
          </a:p>
        </p:txBody>
      </p:sp>
      <p:sp>
        <p:nvSpPr>
          <p:cNvPr id="19" name="Attendance Shifts &amp; rosters"/>
          <p:cNvSpPr/>
          <p:nvPr/>
        </p:nvSpPr>
        <p:spPr>
          <a:xfrm>
            <a:off x="685800" y="3977640"/>
            <a:ext cx="3423818" cy="1783080"/>
          </a:xfrm>
          <a:prstGeom prst="roundRect">
            <a:avLst>
              <a:gd name="adj" fmla="val 8205"/>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20" name="Attendance Shifts &amp; rosters tile"/>
          <p:cNvSpPr/>
          <p:nvPr/>
        </p:nvSpPr>
        <p:spPr>
          <a:xfrm>
            <a:off x="960120" y="4297680"/>
            <a:ext cx="640080" cy="640080"/>
          </a:xfrm>
          <a:prstGeom prst="roundRect">
            <a:avLst>
              <a:gd name="adj" fmla="val 17143"/>
            </a:avLst>
          </a:prstGeom>
          <a:solidFill>
            <a:srgbClr val="EEEBFF"/>
          </a:solidFill>
          <a:ln/>
        </p:spPr>
      </p:sp>
      <p:pic>
        <p:nvPicPr>
          <p:cNvPr id="21" name="Image 3" descr="preencoded.png">    </p:cNvPr>
          <p:cNvPicPr>
            <a:picLocks noChangeAspect="1"/>
          </p:cNvPicPr>
          <p:nvPr/>
        </p:nvPicPr>
        <p:blipFill>
          <a:blip r:embed="rId4"/>
          <a:stretch>
            <a:fillRect/>
          </a:stretch>
        </p:blipFill>
        <p:spPr>
          <a:xfrm>
            <a:off x="1120140" y="4457700"/>
            <a:ext cx="320040" cy="320040"/>
          </a:xfrm>
          <a:prstGeom prst="rect">
            <a:avLst/>
          </a:prstGeom>
        </p:spPr>
      </p:pic>
      <p:sp>
        <p:nvSpPr>
          <p:cNvPr id="22" name="Text 16"/>
          <p:cNvSpPr txBox="1"/>
          <p:nvPr/>
        </p:nvSpPr>
        <p:spPr>
          <a:xfrm>
            <a:off x="1737360" y="4297680"/>
            <a:ext cx="2189378" cy="411480"/>
          </a:xfrm>
          <a:prstGeom prst="rect">
            <a:avLst/>
          </a:prstGeom>
          <a:noFill/>
          <a:ln/>
        </p:spPr>
        <p:txBody>
          <a:bodyPr wrap="square" lIns="0" tIns="0" rIns="0" bIns="0" rtlCol="0" anchor="t"/>
          <a:lstStyle/>
          <a:p>
            <a:pPr indent="0" marL="0">
              <a:buNone/>
            </a:pPr>
            <a:r>
              <a:rPr lang="en-US" sz="1600" b="1" dirty="0">
                <a:solidFill>
                  <a:srgbClr val="10172A"/>
                </a:solidFill>
                <a:latin typeface="+mj-lt" pitchFamily="34" charset="0"/>
                <a:ea typeface="+mj-lt" pitchFamily="34" charset="-122"/>
                <a:cs typeface="+mj-lt" pitchFamily="34" charset="-120"/>
              </a:rPr>
              <a:t>Shifts &amp; rosters</a:t>
            </a:r>
            <a:endParaRPr lang="en-US" sz="1600" dirty="0"/>
          </a:p>
        </p:txBody>
      </p:sp>
      <p:sp>
        <p:nvSpPr>
          <p:cNvPr id="23" name="Text 17"/>
          <p:cNvSpPr txBox="1"/>
          <p:nvPr/>
        </p:nvSpPr>
        <p:spPr>
          <a:xfrm>
            <a:off x="1737360" y="4754880"/>
            <a:ext cx="2189378" cy="822960"/>
          </a:xfrm>
          <a:prstGeom prst="rect">
            <a:avLst/>
          </a:prstGeom>
          <a:noFill/>
          <a:ln/>
        </p:spPr>
        <p:txBody>
          <a:bodyPr wrap="square" lIns="0" tIns="0" rIns="0" bIns="0" rtlCol="0" anchor="t"/>
          <a:lstStyle/>
          <a:p>
            <a:pPr indent="0" marL="0">
              <a:lnSpc>
                <a:spcPct val="110000"/>
              </a:lnSpc>
              <a:buNone/>
            </a:pPr>
            <a:r>
              <a:rPr lang="en-US" sz="1400" dirty="0">
                <a:solidFill>
                  <a:srgbClr val="4A5568"/>
                </a:solidFill>
              </a:rPr>
              <a:t>Day, night and rotating shifts with weekly offs.</a:t>
            </a:r>
            <a:endParaRPr lang="en-US" sz="1400" dirty="0"/>
          </a:p>
        </p:txBody>
      </p:sp>
      <p:sp>
        <p:nvSpPr>
          <p:cNvPr id="24" name="Attendance Late &amp; overtime"/>
          <p:cNvSpPr/>
          <p:nvPr/>
        </p:nvSpPr>
        <p:spPr>
          <a:xfrm>
            <a:off x="4383938" y="3977640"/>
            <a:ext cx="3423818" cy="1783080"/>
          </a:xfrm>
          <a:prstGeom prst="roundRect">
            <a:avLst>
              <a:gd name="adj" fmla="val 8205"/>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25" name="Attendance Late &amp; overtime tile"/>
          <p:cNvSpPr/>
          <p:nvPr/>
        </p:nvSpPr>
        <p:spPr>
          <a:xfrm>
            <a:off x="4658258" y="4297680"/>
            <a:ext cx="640080" cy="640080"/>
          </a:xfrm>
          <a:prstGeom prst="roundRect">
            <a:avLst>
              <a:gd name="adj" fmla="val 17143"/>
            </a:avLst>
          </a:prstGeom>
          <a:solidFill>
            <a:srgbClr val="EEEBFF"/>
          </a:solidFill>
          <a:ln/>
        </p:spPr>
      </p:sp>
      <p:pic>
        <p:nvPicPr>
          <p:cNvPr id="26" name="Image 4" descr="preencoded.png">    </p:cNvPr>
          <p:cNvPicPr>
            <a:picLocks noChangeAspect="1"/>
          </p:cNvPicPr>
          <p:nvPr/>
        </p:nvPicPr>
        <p:blipFill>
          <a:blip r:embed="rId5"/>
          <a:stretch>
            <a:fillRect/>
          </a:stretch>
        </p:blipFill>
        <p:spPr>
          <a:xfrm>
            <a:off x="4818278" y="4457700"/>
            <a:ext cx="320040" cy="320040"/>
          </a:xfrm>
          <a:prstGeom prst="rect">
            <a:avLst/>
          </a:prstGeom>
        </p:spPr>
      </p:pic>
      <p:sp>
        <p:nvSpPr>
          <p:cNvPr id="27" name="Text 20"/>
          <p:cNvSpPr txBox="1"/>
          <p:nvPr/>
        </p:nvSpPr>
        <p:spPr>
          <a:xfrm>
            <a:off x="5435498" y="4297680"/>
            <a:ext cx="2189378" cy="411480"/>
          </a:xfrm>
          <a:prstGeom prst="rect">
            <a:avLst/>
          </a:prstGeom>
          <a:noFill/>
          <a:ln/>
        </p:spPr>
        <p:txBody>
          <a:bodyPr wrap="square" lIns="0" tIns="0" rIns="0" bIns="0" rtlCol="0" anchor="t"/>
          <a:lstStyle/>
          <a:p>
            <a:pPr indent="0" marL="0">
              <a:buNone/>
            </a:pPr>
            <a:r>
              <a:rPr lang="en-US" sz="1600" b="1" dirty="0">
                <a:solidFill>
                  <a:srgbClr val="10172A"/>
                </a:solidFill>
                <a:latin typeface="+mj-lt" pitchFamily="34" charset="0"/>
                <a:ea typeface="+mj-lt" pitchFamily="34" charset="-122"/>
                <a:cs typeface="+mj-lt" pitchFamily="34" charset="-120"/>
              </a:rPr>
              <a:t>Late &amp; overtime</a:t>
            </a:r>
            <a:endParaRPr lang="en-US" sz="1600" dirty="0"/>
          </a:p>
        </p:txBody>
      </p:sp>
      <p:sp>
        <p:nvSpPr>
          <p:cNvPr id="28" name="Text 21"/>
          <p:cNvSpPr txBox="1"/>
          <p:nvPr/>
        </p:nvSpPr>
        <p:spPr>
          <a:xfrm>
            <a:off x="5435498" y="4754880"/>
            <a:ext cx="2189378" cy="822960"/>
          </a:xfrm>
          <a:prstGeom prst="rect">
            <a:avLst/>
          </a:prstGeom>
          <a:noFill/>
          <a:ln/>
        </p:spPr>
        <p:txBody>
          <a:bodyPr wrap="square" lIns="0" tIns="0" rIns="0" bIns="0" rtlCol="0" anchor="t"/>
          <a:lstStyle/>
          <a:p>
            <a:pPr indent="0" marL="0">
              <a:lnSpc>
                <a:spcPct val="110000"/>
              </a:lnSpc>
              <a:buNone/>
            </a:pPr>
            <a:r>
              <a:rPr lang="en-US" sz="1400" dirty="0">
                <a:solidFill>
                  <a:srgbClr val="4A5568"/>
                </a:solidFill>
              </a:rPr>
              <a:t>Late-in, early-out and overtime worked out for you.</a:t>
            </a:r>
            <a:endParaRPr lang="en-US" sz="1400" dirty="0"/>
          </a:p>
        </p:txBody>
      </p:sp>
      <p:sp>
        <p:nvSpPr>
          <p:cNvPr id="29" name="Attendance Leave &amp; holidays"/>
          <p:cNvSpPr/>
          <p:nvPr/>
        </p:nvSpPr>
        <p:spPr>
          <a:xfrm>
            <a:off x="8082077" y="3977640"/>
            <a:ext cx="3423818" cy="1783080"/>
          </a:xfrm>
          <a:prstGeom prst="roundRect">
            <a:avLst>
              <a:gd name="adj" fmla="val 8205"/>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30" name="Attendance Leave &amp; holidays tile"/>
          <p:cNvSpPr/>
          <p:nvPr/>
        </p:nvSpPr>
        <p:spPr>
          <a:xfrm>
            <a:off x="8356397" y="4297680"/>
            <a:ext cx="640080" cy="640080"/>
          </a:xfrm>
          <a:prstGeom prst="roundRect">
            <a:avLst>
              <a:gd name="adj" fmla="val 17143"/>
            </a:avLst>
          </a:prstGeom>
          <a:solidFill>
            <a:srgbClr val="EEEBFF"/>
          </a:solidFill>
          <a:ln/>
        </p:spPr>
      </p:sp>
      <p:pic>
        <p:nvPicPr>
          <p:cNvPr id="31" name="Image 5" descr="preencoded.png">    </p:cNvPr>
          <p:cNvPicPr>
            <a:picLocks noChangeAspect="1"/>
          </p:cNvPicPr>
          <p:nvPr/>
        </p:nvPicPr>
        <p:blipFill>
          <a:blip r:embed="rId6"/>
          <a:stretch>
            <a:fillRect/>
          </a:stretch>
        </p:blipFill>
        <p:spPr>
          <a:xfrm>
            <a:off x="8516417" y="4457700"/>
            <a:ext cx="320040" cy="320040"/>
          </a:xfrm>
          <a:prstGeom prst="rect">
            <a:avLst/>
          </a:prstGeom>
        </p:spPr>
      </p:pic>
      <p:sp>
        <p:nvSpPr>
          <p:cNvPr id="32" name="Text 24"/>
          <p:cNvSpPr txBox="1"/>
          <p:nvPr/>
        </p:nvSpPr>
        <p:spPr>
          <a:xfrm>
            <a:off x="9133637" y="4297680"/>
            <a:ext cx="2189378" cy="411480"/>
          </a:xfrm>
          <a:prstGeom prst="rect">
            <a:avLst/>
          </a:prstGeom>
          <a:noFill/>
          <a:ln/>
        </p:spPr>
        <p:txBody>
          <a:bodyPr wrap="square" lIns="0" tIns="0" rIns="0" bIns="0" rtlCol="0" anchor="t"/>
          <a:lstStyle/>
          <a:p>
            <a:pPr indent="0" marL="0">
              <a:buNone/>
            </a:pPr>
            <a:r>
              <a:rPr lang="en-US" sz="1600" b="1" dirty="0">
                <a:solidFill>
                  <a:srgbClr val="10172A"/>
                </a:solidFill>
                <a:latin typeface="+mj-lt" pitchFamily="34" charset="0"/>
                <a:ea typeface="+mj-lt" pitchFamily="34" charset="-122"/>
                <a:cs typeface="+mj-lt" pitchFamily="34" charset="-120"/>
              </a:rPr>
              <a:t>Leave &amp; holidays</a:t>
            </a:r>
            <a:endParaRPr lang="en-US" sz="1600" dirty="0"/>
          </a:p>
        </p:txBody>
      </p:sp>
      <p:sp>
        <p:nvSpPr>
          <p:cNvPr id="33" name="Text 25"/>
          <p:cNvSpPr txBox="1"/>
          <p:nvPr/>
        </p:nvSpPr>
        <p:spPr>
          <a:xfrm>
            <a:off x="9133637" y="4754880"/>
            <a:ext cx="2189378" cy="822960"/>
          </a:xfrm>
          <a:prstGeom prst="rect">
            <a:avLst/>
          </a:prstGeom>
          <a:noFill/>
          <a:ln/>
        </p:spPr>
        <p:txBody>
          <a:bodyPr wrap="square" lIns="0" tIns="0" rIns="0" bIns="0" rtlCol="0" anchor="t"/>
          <a:lstStyle/>
          <a:p>
            <a:pPr indent="0" marL="0">
              <a:lnSpc>
                <a:spcPct val="110000"/>
              </a:lnSpc>
              <a:buNone/>
            </a:pPr>
            <a:r>
              <a:rPr lang="en-US" sz="1400" dirty="0">
                <a:solidFill>
                  <a:srgbClr val="4A5568"/>
                </a:solidFill>
              </a:rPr>
              <a:t>Apply online; managers approve in one click.</a:t>
            </a:r>
            <a:endParaRPr lang="en-US"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FFB000"/>
                </a:solidFill>
              </a:rPr>
              <a:t>PAY</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F6F7FB"/>
                </a:solidFill>
                <a:latin typeface="Century Gothic" pitchFamily="34" charset="0"/>
                <a:ea typeface="Century Gothic" pitchFamily="34" charset="-122"/>
                <a:cs typeface="Century Gothic" pitchFamily="34" charset="-120"/>
              </a:rPr>
              <a:t>Payroll that knows Indian rules</a:t>
            </a:r>
            <a:endParaRPr lang="en-US" sz="3200" dirty="0"/>
          </a:p>
        </p:txBody>
      </p:sp>
      <p:sp>
        <p:nvSpPr>
          <p:cNvPr id="4" name="Text 2"/>
          <p:cNvSpPr txBox="1"/>
          <p:nvPr/>
        </p:nvSpPr>
        <p:spPr>
          <a:xfrm>
            <a:off x="685800" y="1600200"/>
            <a:ext cx="10820095" cy="457200"/>
          </a:xfrm>
          <a:prstGeom prst="rect">
            <a:avLst/>
          </a:prstGeom>
          <a:noFill/>
          <a:ln/>
        </p:spPr>
        <p:txBody>
          <a:bodyPr wrap="square" lIns="0" tIns="0" rIns="0" bIns="0" rtlCol="0" anchor="t"/>
          <a:lstStyle/>
          <a:p>
            <a:pPr indent="0" marL="0">
              <a:buNone/>
            </a:pPr>
            <a:r>
              <a:rPr lang="en-US" sz="1800" dirty="0">
                <a:solidFill>
                  <a:srgbClr val="C3CBE0"/>
                </a:solidFill>
              </a:rPr>
              <a:t>Run payroll in minutes. Statutory deductions and returns are calculated for you.</a:t>
            </a:r>
            <a:endParaRPr lang="en-US" sz="1800" dirty="0"/>
          </a:p>
        </p:txBody>
      </p:sp>
      <p:sp>
        <p:nvSpPr>
          <p:cNvPr id="5" name="Pill PF"/>
          <p:cNvSpPr/>
          <p:nvPr/>
        </p:nvSpPr>
        <p:spPr>
          <a:xfrm>
            <a:off x="685800" y="2377440"/>
            <a:ext cx="914400" cy="640080"/>
          </a:xfrm>
          <a:prstGeom prst="roundRect">
            <a:avLst>
              <a:gd name="adj" fmla="val 50000"/>
            </a:avLst>
          </a:prstGeom>
          <a:solidFill>
            <a:srgbClr val="FFB000"/>
          </a:solidFill>
          <a:ln/>
        </p:spPr>
      </p:sp>
      <p:sp>
        <p:nvSpPr>
          <p:cNvPr id="6" name="Text 4"/>
          <p:cNvSpPr txBox="1"/>
          <p:nvPr/>
        </p:nvSpPr>
        <p:spPr>
          <a:xfrm>
            <a:off x="685800" y="2377440"/>
            <a:ext cx="914400" cy="640080"/>
          </a:xfrm>
          <a:prstGeom prst="rect">
            <a:avLst/>
          </a:prstGeom>
          <a:noFill/>
          <a:ln/>
        </p:spPr>
        <p:txBody>
          <a:bodyPr wrap="square" lIns="0" tIns="0" rIns="0" bIns="0" rtlCol="0" anchor="ctr"/>
          <a:lstStyle/>
          <a:p>
            <a:pPr algn="ctr" indent="0" marL="0">
              <a:buNone/>
            </a:pPr>
            <a:r>
              <a:rPr lang="en-US" sz="2000" b="1" dirty="0">
                <a:solidFill>
                  <a:srgbClr val="10172A"/>
                </a:solidFill>
                <a:latin typeface="+mj-lt" pitchFamily="34" charset="0"/>
                <a:ea typeface="+mj-lt" pitchFamily="34" charset="-122"/>
                <a:cs typeface="+mj-lt" pitchFamily="34" charset="-120"/>
              </a:rPr>
              <a:t>PF</a:t>
            </a:r>
            <a:endParaRPr lang="en-US" sz="2000" dirty="0"/>
          </a:p>
        </p:txBody>
      </p:sp>
      <p:sp>
        <p:nvSpPr>
          <p:cNvPr id="7" name="Pill ESI"/>
          <p:cNvSpPr/>
          <p:nvPr/>
        </p:nvSpPr>
        <p:spPr>
          <a:xfrm>
            <a:off x="1783080" y="2377440"/>
            <a:ext cx="914400" cy="640080"/>
          </a:xfrm>
          <a:prstGeom prst="roundRect">
            <a:avLst>
              <a:gd name="adj" fmla="val 50000"/>
            </a:avLst>
          </a:prstGeom>
          <a:solidFill>
            <a:srgbClr val="FFB000"/>
          </a:solidFill>
          <a:ln/>
        </p:spPr>
      </p:sp>
      <p:sp>
        <p:nvSpPr>
          <p:cNvPr id="8" name="Text 6"/>
          <p:cNvSpPr txBox="1"/>
          <p:nvPr/>
        </p:nvSpPr>
        <p:spPr>
          <a:xfrm>
            <a:off x="1783080" y="2377440"/>
            <a:ext cx="914400" cy="640080"/>
          </a:xfrm>
          <a:prstGeom prst="rect">
            <a:avLst/>
          </a:prstGeom>
          <a:noFill/>
          <a:ln/>
        </p:spPr>
        <p:txBody>
          <a:bodyPr wrap="square" lIns="0" tIns="0" rIns="0" bIns="0" rtlCol="0" anchor="ctr"/>
          <a:lstStyle/>
          <a:p>
            <a:pPr algn="ctr" indent="0" marL="0">
              <a:buNone/>
            </a:pPr>
            <a:r>
              <a:rPr lang="en-US" sz="2000" b="1" dirty="0">
                <a:solidFill>
                  <a:srgbClr val="10172A"/>
                </a:solidFill>
                <a:latin typeface="+mj-lt" pitchFamily="34" charset="0"/>
                <a:ea typeface="+mj-lt" pitchFamily="34" charset="-122"/>
                <a:cs typeface="+mj-lt" pitchFamily="34" charset="-120"/>
              </a:rPr>
              <a:t>ESI</a:t>
            </a:r>
            <a:endParaRPr lang="en-US" sz="2000" dirty="0"/>
          </a:p>
        </p:txBody>
      </p:sp>
      <p:sp>
        <p:nvSpPr>
          <p:cNvPr id="9" name="Pill PT"/>
          <p:cNvSpPr/>
          <p:nvPr/>
        </p:nvSpPr>
        <p:spPr>
          <a:xfrm>
            <a:off x="2880360" y="2377440"/>
            <a:ext cx="914400" cy="640080"/>
          </a:xfrm>
          <a:prstGeom prst="roundRect">
            <a:avLst>
              <a:gd name="adj" fmla="val 50000"/>
            </a:avLst>
          </a:prstGeom>
          <a:solidFill>
            <a:srgbClr val="FFB000"/>
          </a:solidFill>
          <a:ln/>
        </p:spPr>
      </p:sp>
      <p:sp>
        <p:nvSpPr>
          <p:cNvPr id="10" name="Text 8"/>
          <p:cNvSpPr txBox="1"/>
          <p:nvPr/>
        </p:nvSpPr>
        <p:spPr>
          <a:xfrm>
            <a:off x="2880360" y="2377440"/>
            <a:ext cx="914400" cy="640080"/>
          </a:xfrm>
          <a:prstGeom prst="rect">
            <a:avLst/>
          </a:prstGeom>
          <a:noFill/>
          <a:ln/>
        </p:spPr>
        <p:txBody>
          <a:bodyPr wrap="square" lIns="0" tIns="0" rIns="0" bIns="0" rtlCol="0" anchor="ctr"/>
          <a:lstStyle/>
          <a:p>
            <a:pPr algn="ctr" indent="0" marL="0">
              <a:buNone/>
            </a:pPr>
            <a:r>
              <a:rPr lang="en-US" sz="2000" b="1" dirty="0">
                <a:solidFill>
                  <a:srgbClr val="10172A"/>
                </a:solidFill>
                <a:latin typeface="+mj-lt" pitchFamily="34" charset="0"/>
                <a:ea typeface="+mj-lt" pitchFamily="34" charset="-122"/>
                <a:cs typeface="+mj-lt" pitchFamily="34" charset="-120"/>
              </a:rPr>
              <a:t>PT</a:t>
            </a:r>
            <a:endParaRPr lang="en-US" sz="2000" dirty="0"/>
          </a:p>
        </p:txBody>
      </p:sp>
      <p:sp>
        <p:nvSpPr>
          <p:cNvPr id="11" name="Pill TDS"/>
          <p:cNvSpPr/>
          <p:nvPr/>
        </p:nvSpPr>
        <p:spPr>
          <a:xfrm>
            <a:off x="3977640" y="2377440"/>
            <a:ext cx="914400" cy="640080"/>
          </a:xfrm>
          <a:prstGeom prst="roundRect">
            <a:avLst>
              <a:gd name="adj" fmla="val 50000"/>
            </a:avLst>
          </a:prstGeom>
          <a:solidFill>
            <a:srgbClr val="FFB000"/>
          </a:solidFill>
          <a:ln/>
        </p:spPr>
      </p:sp>
      <p:sp>
        <p:nvSpPr>
          <p:cNvPr id="12" name="Text 10"/>
          <p:cNvSpPr txBox="1"/>
          <p:nvPr/>
        </p:nvSpPr>
        <p:spPr>
          <a:xfrm>
            <a:off x="3977640" y="2377440"/>
            <a:ext cx="914400" cy="640080"/>
          </a:xfrm>
          <a:prstGeom prst="rect">
            <a:avLst/>
          </a:prstGeom>
          <a:noFill/>
          <a:ln/>
        </p:spPr>
        <p:txBody>
          <a:bodyPr wrap="square" lIns="0" tIns="0" rIns="0" bIns="0" rtlCol="0" anchor="ctr"/>
          <a:lstStyle/>
          <a:p>
            <a:pPr algn="ctr" indent="0" marL="0">
              <a:buNone/>
            </a:pPr>
            <a:r>
              <a:rPr lang="en-US" sz="2000" b="1" dirty="0">
                <a:solidFill>
                  <a:srgbClr val="10172A"/>
                </a:solidFill>
                <a:latin typeface="+mj-lt" pitchFamily="34" charset="0"/>
                <a:ea typeface="+mj-lt" pitchFamily="34" charset="-122"/>
                <a:cs typeface="+mj-lt" pitchFamily="34" charset="-120"/>
              </a:rPr>
              <a:t>TDS</a:t>
            </a:r>
            <a:endParaRPr lang="en-US" sz="2000" dirty="0"/>
          </a:p>
        </p:txBody>
      </p:sp>
      <p:sp>
        <p:nvSpPr>
          <p:cNvPr id="13" name="Pill Form 16"/>
          <p:cNvSpPr/>
          <p:nvPr/>
        </p:nvSpPr>
        <p:spPr>
          <a:xfrm>
            <a:off x="5074920" y="2377440"/>
            <a:ext cx="1463040" cy="640080"/>
          </a:xfrm>
          <a:prstGeom prst="roundRect">
            <a:avLst>
              <a:gd name="adj" fmla="val 50000"/>
            </a:avLst>
          </a:prstGeom>
          <a:solidFill>
            <a:srgbClr val="22305F"/>
          </a:solidFill>
          <a:ln w="9525">
            <a:solidFill>
              <a:srgbClr val="3A4A85"/>
            </a:solidFill>
            <a:prstDash val="solid"/>
          </a:ln>
        </p:spPr>
      </p:sp>
      <p:sp>
        <p:nvSpPr>
          <p:cNvPr id="14" name="Text 12"/>
          <p:cNvSpPr txBox="1"/>
          <p:nvPr/>
        </p:nvSpPr>
        <p:spPr>
          <a:xfrm>
            <a:off x="5074920" y="2377440"/>
            <a:ext cx="1463040" cy="640080"/>
          </a:xfrm>
          <a:prstGeom prst="rect">
            <a:avLst/>
          </a:prstGeom>
          <a:noFill/>
          <a:ln/>
        </p:spPr>
        <p:txBody>
          <a:bodyPr wrap="square" lIns="0" tIns="0" rIns="0" bIns="0" rtlCol="0" anchor="ctr"/>
          <a:lstStyle/>
          <a:p>
            <a:pPr algn="ctr" indent="0" marL="0">
              <a:buNone/>
            </a:pPr>
            <a:r>
              <a:rPr lang="en-US" sz="2000" b="1" dirty="0">
                <a:solidFill>
                  <a:srgbClr val="F6F7FB"/>
                </a:solidFill>
                <a:latin typeface="+mj-lt" pitchFamily="34" charset="0"/>
                <a:ea typeface="+mj-lt" pitchFamily="34" charset="-122"/>
                <a:cs typeface="+mj-lt" pitchFamily="34" charset="-120"/>
              </a:rPr>
              <a:t>Form 16</a:t>
            </a:r>
            <a:endParaRPr lang="en-US" sz="2000" dirty="0"/>
          </a:p>
        </p:txBody>
      </p:sp>
      <p:sp>
        <p:nvSpPr>
          <p:cNvPr id="15" name="Pill Form 24Q"/>
          <p:cNvSpPr/>
          <p:nvPr/>
        </p:nvSpPr>
        <p:spPr>
          <a:xfrm>
            <a:off x="6720840" y="2377440"/>
            <a:ext cx="1554480" cy="640080"/>
          </a:xfrm>
          <a:prstGeom prst="roundRect">
            <a:avLst>
              <a:gd name="adj" fmla="val 50000"/>
            </a:avLst>
          </a:prstGeom>
          <a:solidFill>
            <a:srgbClr val="22305F"/>
          </a:solidFill>
          <a:ln w="9525">
            <a:solidFill>
              <a:srgbClr val="3A4A85"/>
            </a:solidFill>
            <a:prstDash val="solid"/>
          </a:ln>
        </p:spPr>
      </p:sp>
      <p:sp>
        <p:nvSpPr>
          <p:cNvPr id="16" name="Text 14"/>
          <p:cNvSpPr txBox="1"/>
          <p:nvPr/>
        </p:nvSpPr>
        <p:spPr>
          <a:xfrm>
            <a:off x="6720840" y="2377440"/>
            <a:ext cx="1554480" cy="640080"/>
          </a:xfrm>
          <a:prstGeom prst="rect">
            <a:avLst/>
          </a:prstGeom>
          <a:noFill/>
          <a:ln/>
        </p:spPr>
        <p:txBody>
          <a:bodyPr wrap="square" lIns="0" tIns="0" rIns="0" bIns="0" rtlCol="0" anchor="ctr"/>
          <a:lstStyle/>
          <a:p>
            <a:pPr algn="ctr" indent="0" marL="0">
              <a:buNone/>
            </a:pPr>
            <a:r>
              <a:rPr lang="en-US" sz="2000" b="1" dirty="0">
                <a:solidFill>
                  <a:srgbClr val="F6F7FB"/>
                </a:solidFill>
                <a:latin typeface="+mj-lt" pitchFamily="34" charset="0"/>
                <a:ea typeface="+mj-lt" pitchFamily="34" charset="-122"/>
                <a:cs typeface="+mj-lt" pitchFamily="34" charset="-120"/>
              </a:rPr>
              <a:t>Form 24Q</a:t>
            </a:r>
            <a:endParaRPr lang="en-US" sz="2000" dirty="0"/>
          </a:p>
        </p:txBody>
      </p:sp>
      <p:sp>
        <p:nvSpPr>
          <p:cNvPr id="17" name="Pill PF ECR"/>
          <p:cNvSpPr/>
          <p:nvPr/>
        </p:nvSpPr>
        <p:spPr>
          <a:xfrm>
            <a:off x="8458200" y="2377440"/>
            <a:ext cx="1417320" cy="640080"/>
          </a:xfrm>
          <a:prstGeom prst="roundRect">
            <a:avLst>
              <a:gd name="adj" fmla="val 50000"/>
            </a:avLst>
          </a:prstGeom>
          <a:solidFill>
            <a:srgbClr val="22305F"/>
          </a:solidFill>
          <a:ln w="9525">
            <a:solidFill>
              <a:srgbClr val="3A4A85"/>
            </a:solidFill>
            <a:prstDash val="solid"/>
          </a:ln>
        </p:spPr>
      </p:sp>
      <p:sp>
        <p:nvSpPr>
          <p:cNvPr id="18" name="Text 16"/>
          <p:cNvSpPr txBox="1"/>
          <p:nvPr/>
        </p:nvSpPr>
        <p:spPr>
          <a:xfrm>
            <a:off x="8458200" y="2377440"/>
            <a:ext cx="1417320" cy="640080"/>
          </a:xfrm>
          <a:prstGeom prst="rect">
            <a:avLst/>
          </a:prstGeom>
          <a:noFill/>
          <a:ln/>
        </p:spPr>
        <p:txBody>
          <a:bodyPr wrap="square" lIns="0" tIns="0" rIns="0" bIns="0" rtlCol="0" anchor="ctr"/>
          <a:lstStyle/>
          <a:p>
            <a:pPr algn="ctr" indent="0" marL="0">
              <a:buNone/>
            </a:pPr>
            <a:r>
              <a:rPr lang="en-US" sz="2000" b="1" dirty="0">
                <a:solidFill>
                  <a:srgbClr val="F6F7FB"/>
                </a:solidFill>
                <a:latin typeface="+mj-lt" pitchFamily="34" charset="0"/>
                <a:ea typeface="+mj-lt" pitchFamily="34" charset="-122"/>
                <a:cs typeface="+mj-lt" pitchFamily="34" charset="-120"/>
              </a:rPr>
              <a:t>PF ECR</a:t>
            </a:r>
            <a:endParaRPr lang="en-US" sz="2000" dirty="0"/>
          </a:p>
        </p:txBody>
      </p:sp>
      <p:sp>
        <p:nvSpPr>
          <p:cNvPr id="19" name="Pill Gratuity"/>
          <p:cNvSpPr/>
          <p:nvPr/>
        </p:nvSpPr>
        <p:spPr>
          <a:xfrm>
            <a:off x="10058400" y="2377440"/>
            <a:ext cx="1463040" cy="640080"/>
          </a:xfrm>
          <a:prstGeom prst="roundRect">
            <a:avLst>
              <a:gd name="adj" fmla="val 50000"/>
            </a:avLst>
          </a:prstGeom>
          <a:solidFill>
            <a:srgbClr val="22305F"/>
          </a:solidFill>
          <a:ln w="9525">
            <a:solidFill>
              <a:srgbClr val="3A4A85"/>
            </a:solidFill>
            <a:prstDash val="solid"/>
          </a:ln>
        </p:spPr>
      </p:sp>
      <p:sp>
        <p:nvSpPr>
          <p:cNvPr id="20" name="Text 18"/>
          <p:cNvSpPr txBox="1"/>
          <p:nvPr/>
        </p:nvSpPr>
        <p:spPr>
          <a:xfrm>
            <a:off x="10058400" y="2377440"/>
            <a:ext cx="1463040" cy="640080"/>
          </a:xfrm>
          <a:prstGeom prst="rect">
            <a:avLst/>
          </a:prstGeom>
          <a:noFill/>
          <a:ln/>
        </p:spPr>
        <p:txBody>
          <a:bodyPr wrap="square" lIns="0" tIns="0" rIns="0" bIns="0" rtlCol="0" anchor="ctr"/>
          <a:lstStyle/>
          <a:p>
            <a:pPr algn="ctr" indent="0" marL="0">
              <a:buNone/>
            </a:pPr>
            <a:r>
              <a:rPr lang="en-US" sz="2000" b="1" dirty="0">
                <a:solidFill>
                  <a:srgbClr val="F6F7FB"/>
                </a:solidFill>
                <a:latin typeface="+mj-lt" pitchFamily="34" charset="0"/>
                <a:ea typeface="+mj-lt" pitchFamily="34" charset="-122"/>
                <a:cs typeface="+mj-lt" pitchFamily="34" charset="-120"/>
              </a:rPr>
              <a:t>Gratuity</a:t>
            </a:r>
            <a:endParaRPr lang="en-US" sz="2000" dirty="0"/>
          </a:p>
        </p:txBody>
      </p:sp>
      <p:sp>
        <p:nvSpPr>
          <p:cNvPr id="21" name="Text 19"/>
          <p:cNvSpPr txBox="1"/>
          <p:nvPr/>
        </p:nvSpPr>
        <p:spPr>
          <a:xfrm>
            <a:off x="685800" y="3154680"/>
            <a:ext cx="10820095" cy="320040"/>
          </a:xfrm>
          <a:prstGeom prst="rect">
            <a:avLst/>
          </a:prstGeom>
          <a:noFill/>
          <a:ln/>
        </p:spPr>
        <p:txBody>
          <a:bodyPr wrap="square" lIns="0" tIns="0" rIns="0" bIns="0" rtlCol="0" anchor="t"/>
          <a:lstStyle/>
          <a:p>
            <a:pPr indent="0" marL="0">
              <a:buNone/>
            </a:pPr>
            <a:r>
              <a:rPr lang="en-US" sz="1300" dirty="0">
                <a:solidFill>
                  <a:srgbClr val="8A94B3"/>
                </a:solidFill>
              </a:rPr>
              <a:t>Gold: monthly deductions   ·   Blue: yearly forms and returns</a:t>
            </a:r>
            <a:endParaRPr lang="en-US" sz="1300" dirty="0"/>
          </a:p>
        </p:txBody>
      </p:sp>
      <p:sp>
        <p:nvSpPr>
          <p:cNvPr id="22" name="Payroll Payslips &amp; tax"/>
          <p:cNvSpPr/>
          <p:nvPr/>
        </p:nvSpPr>
        <p:spPr>
          <a:xfrm>
            <a:off x="685800" y="3886200"/>
            <a:ext cx="3393338" cy="1737360"/>
          </a:xfrm>
          <a:prstGeom prst="roundRect">
            <a:avLst>
              <a:gd name="adj" fmla="val 8421"/>
            </a:avLst>
          </a:prstGeom>
          <a:solidFill>
            <a:srgbClr val="172044"/>
          </a:solidFill>
          <a:ln w="9525">
            <a:solidFill>
              <a:srgbClr val="2E3B6B"/>
            </a:solidFill>
            <a:prstDash val="solid"/>
          </a:ln>
        </p:spPr>
      </p:sp>
      <p:pic>
        <p:nvPicPr>
          <p:cNvPr id="23" name="Image 0" descr="preencoded.png">    </p:cNvPr>
          <p:cNvPicPr>
            <a:picLocks noChangeAspect="1"/>
          </p:cNvPicPr>
          <p:nvPr/>
        </p:nvPicPr>
        <p:blipFill>
          <a:blip r:embed="rId1"/>
          <a:stretch>
            <a:fillRect/>
          </a:stretch>
        </p:blipFill>
        <p:spPr>
          <a:xfrm>
            <a:off x="1005840" y="4206240"/>
            <a:ext cx="411480" cy="411480"/>
          </a:xfrm>
          <a:prstGeom prst="rect">
            <a:avLst/>
          </a:prstGeom>
        </p:spPr>
      </p:pic>
      <p:sp>
        <p:nvSpPr>
          <p:cNvPr id="24" name="Text 21"/>
          <p:cNvSpPr txBox="1"/>
          <p:nvPr/>
        </p:nvSpPr>
        <p:spPr>
          <a:xfrm>
            <a:off x="1005840" y="4709160"/>
            <a:ext cx="2753258" cy="365760"/>
          </a:xfrm>
          <a:prstGeom prst="rect">
            <a:avLst/>
          </a:prstGeom>
          <a:noFill/>
          <a:ln/>
        </p:spPr>
        <p:txBody>
          <a:bodyPr wrap="square" lIns="0" tIns="0" rIns="0" bIns="0" rtlCol="0" anchor="t"/>
          <a:lstStyle/>
          <a:p>
            <a:pPr indent="0" marL="0">
              <a:buNone/>
            </a:pPr>
            <a:r>
              <a:rPr lang="en-US" sz="1800" b="1" dirty="0">
                <a:solidFill>
                  <a:srgbClr val="F6F7FB"/>
                </a:solidFill>
                <a:latin typeface="+mj-lt" pitchFamily="34" charset="0"/>
                <a:ea typeface="+mj-lt" pitchFamily="34" charset="-122"/>
                <a:cs typeface="+mj-lt" pitchFamily="34" charset="-120"/>
              </a:rPr>
              <a:t>Payslips &amp; tax</a:t>
            </a:r>
            <a:endParaRPr lang="en-US" sz="1800" dirty="0"/>
          </a:p>
        </p:txBody>
      </p:sp>
      <p:sp>
        <p:nvSpPr>
          <p:cNvPr id="25" name="Text 22"/>
          <p:cNvSpPr txBox="1"/>
          <p:nvPr/>
        </p:nvSpPr>
        <p:spPr>
          <a:xfrm>
            <a:off x="1005840" y="5093208"/>
            <a:ext cx="2753258" cy="411480"/>
          </a:xfrm>
          <a:prstGeom prst="rect">
            <a:avLst/>
          </a:prstGeom>
          <a:noFill/>
          <a:ln/>
        </p:spPr>
        <p:txBody>
          <a:bodyPr wrap="square" lIns="0" tIns="0" rIns="0" bIns="0" rtlCol="0" anchor="t"/>
          <a:lstStyle/>
          <a:p>
            <a:pPr indent="0" marL="0">
              <a:buNone/>
            </a:pPr>
            <a:r>
              <a:rPr lang="en-US" sz="1400" dirty="0">
                <a:solidFill>
                  <a:srgbClr val="C3CBE0"/>
                </a:solidFill>
              </a:rPr>
              <a:t>PDF payslips and employee tax declarations.</a:t>
            </a:r>
            <a:endParaRPr lang="en-US" sz="1400" dirty="0"/>
          </a:p>
        </p:txBody>
      </p:sp>
      <p:sp>
        <p:nvSpPr>
          <p:cNvPr id="26" name="Payroll Full &amp; final"/>
          <p:cNvSpPr/>
          <p:nvPr/>
        </p:nvSpPr>
        <p:spPr>
          <a:xfrm>
            <a:off x="4399178" y="3886200"/>
            <a:ext cx="3393338" cy="1737360"/>
          </a:xfrm>
          <a:prstGeom prst="roundRect">
            <a:avLst>
              <a:gd name="adj" fmla="val 8421"/>
            </a:avLst>
          </a:prstGeom>
          <a:solidFill>
            <a:srgbClr val="172044"/>
          </a:solidFill>
          <a:ln w="9525">
            <a:solidFill>
              <a:srgbClr val="2E3B6B"/>
            </a:solidFill>
            <a:prstDash val="solid"/>
          </a:ln>
        </p:spPr>
      </p:sp>
      <p:pic>
        <p:nvPicPr>
          <p:cNvPr id="27" name="Image 1" descr="preencoded.png">    </p:cNvPr>
          <p:cNvPicPr>
            <a:picLocks noChangeAspect="1"/>
          </p:cNvPicPr>
          <p:nvPr/>
        </p:nvPicPr>
        <p:blipFill>
          <a:blip r:embed="rId2"/>
          <a:stretch>
            <a:fillRect/>
          </a:stretch>
        </p:blipFill>
        <p:spPr>
          <a:xfrm>
            <a:off x="4719218" y="4206240"/>
            <a:ext cx="411480" cy="411480"/>
          </a:xfrm>
          <a:prstGeom prst="rect">
            <a:avLst/>
          </a:prstGeom>
        </p:spPr>
      </p:pic>
      <p:sp>
        <p:nvSpPr>
          <p:cNvPr id="28" name="Text 24"/>
          <p:cNvSpPr txBox="1"/>
          <p:nvPr/>
        </p:nvSpPr>
        <p:spPr>
          <a:xfrm>
            <a:off x="4719218" y="4709160"/>
            <a:ext cx="2753258" cy="365760"/>
          </a:xfrm>
          <a:prstGeom prst="rect">
            <a:avLst/>
          </a:prstGeom>
          <a:noFill/>
          <a:ln/>
        </p:spPr>
        <p:txBody>
          <a:bodyPr wrap="square" lIns="0" tIns="0" rIns="0" bIns="0" rtlCol="0" anchor="t"/>
          <a:lstStyle/>
          <a:p>
            <a:pPr indent="0" marL="0">
              <a:buNone/>
            </a:pPr>
            <a:r>
              <a:rPr lang="en-US" sz="1800" b="1" dirty="0">
                <a:solidFill>
                  <a:srgbClr val="F6F7FB"/>
                </a:solidFill>
                <a:latin typeface="+mj-lt" pitchFamily="34" charset="0"/>
                <a:ea typeface="+mj-lt" pitchFamily="34" charset="-122"/>
                <a:cs typeface="+mj-lt" pitchFamily="34" charset="-120"/>
              </a:rPr>
              <a:t>Full &amp; final</a:t>
            </a:r>
            <a:endParaRPr lang="en-US" sz="1800" dirty="0"/>
          </a:p>
        </p:txBody>
      </p:sp>
      <p:sp>
        <p:nvSpPr>
          <p:cNvPr id="29" name="Text 25"/>
          <p:cNvSpPr txBox="1"/>
          <p:nvPr/>
        </p:nvSpPr>
        <p:spPr>
          <a:xfrm>
            <a:off x="4719218" y="5093208"/>
            <a:ext cx="2753258" cy="411480"/>
          </a:xfrm>
          <a:prstGeom prst="rect">
            <a:avLst/>
          </a:prstGeom>
          <a:noFill/>
          <a:ln/>
        </p:spPr>
        <p:txBody>
          <a:bodyPr wrap="square" lIns="0" tIns="0" rIns="0" bIns="0" rtlCol="0" anchor="t"/>
          <a:lstStyle/>
          <a:p>
            <a:pPr indent="0" marL="0">
              <a:buNone/>
            </a:pPr>
            <a:r>
              <a:rPr lang="en-US" sz="1400" dirty="0">
                <a:solidFill>
                  <a:srgbClr val="C3CBE0"/>
                </a:solidFill>
              </a:rPr>
              <a:t>Exit settlements with gratuity, worked out.</a:t>
            </a:r>
            <a:endParaRPr lang="en-US" sz="1400" dirty="0"/>
          </a:p>
        </p:txBody>
      </p:sp>
      <p:sp>
        <p:nvSpPr>
          <p:cNvPr id="30" name="Payroll Accounting export"/>
          <p:cNvSpPr/>
          <p:nvPr/>
        </p:nvSpPr>
        <p:spPr>
          <a:xfrm>
            <a:off x="8112557" y="3886200"/>
            <a:ext cx="3393338" cy="1737360"/>
          </a:xfrm>
          <a:prstGeom prst="roundRect">
            <a:avLst>
              <a:gd name="adj" fmla="val 8421"/>
            </a:avLst>
          </a:prstGeom>
          <a:solidFill>
            <a:srgbClr val="172044"/>
          </a:solidFill>
          <a:ln w="9525">
            <a:solidFill>
              <a:srgbClr val="2E3B6B"/>
            </a:solidFill>
            <a:prstDash val="solid"/>
          </a:ln>
        </p:spPr>
      </p:sp>
      <p:pic>
        <p:nvPicPr>
          <p:cNvPr id="31" name="Image 2" descr="preencoded.png">    </p:cNvPr>
          <p:cNvPicPr>
            <a:picLocks noChangeAspect="1"/>
          </p:cNvPicPr>
          <p:nvPr/>
        </p:nvPicPr>
        <p:blipFill>
          <a:blip r:embed="rId3"/>
          <a:stretch>
            <a:fillRect/>
          </a:stretch>
        </p:blipFill>
        <p:spPr>
          <a:xfrm>
            <a:off x="8432597" y="4206240"/>
            <a:ext cx="411480" cy="411480"/>
          </a:xfrm>
          <a:prstGeom prst="rect">
            <a:avLst/>
          </a:prstGeom>
        </p:spPr>
      </p:pic>
      <p:sp>
        <p:nvSpPr>
          <p:cNvPr id="32" name="Text 27"/>
          <p:cNvSpPr txBox="1"/>
          <p:nvPr/>
        </p:nvSpPr>
        <p:spPr>
          <a:xfrm>
            <a:off x="8432597" y="4709160"/>
            <a:ext cx="2753258" cy="365760"/>
          </a:xfrm>
          <a:prstGeom prst="rect">
            <a:avLst/>
          </a:prstGeom>
          <a:noFill/>
          <a:ln/>
        </p:spPr>
        <p:txBody>
          <a:bodyPr wrap="square" lIns="0" tIns="0" rIns="0" bIns="0" rtlCol="0" anchor="t"/>
          <a:lstStyle/>
          <a:p>
            <a:pPr indent="0" marL="0">
              <a:buNone/>
            </a:pPr>
            <a:r>
              <a:rPr lang="en-US" sz="1800" b="1" dirty="0">
                <a:solidFill>
                  <a:srgbClr val="F6F7FB"/>
                </a:solidFill>
                <a:latin typeface="+mj-lt" pitchFamily="34" charset="0"/>
                <a:ea typeface="+mj-lt" pitchFamily="34" charset="-122"/>
                <a:cs typeface="+mj-lt" pitchFamily="34" charset="-120"/>
              </a:rPr>
              <a:t>Accounting export</a:t>
            </a:r>
            <a:endParaRPr lang="en-US" sz="1800" dirty="0"/>
          </a:p>
        </p:txBody>
      </p:sp>
      <p:sp>
        <p:nvSpPr>
          <p:cNvPr id="33" name="Text 28"/>
          <p:cNvSpPr txBox="1"/>
          <p:nvPr/>
        </p:nvSpPr>
        <p:spPr>
          <a:xfrm>
            <a:off x="8432597" y="5093208"/>
            <a:ext cx="2753258" cy="411480"/>
          </a:xfrm>
          <a:prstGeom prst="rect">
            <a:avLst/>
          </a:prstGeom>
          <a:noFill/>
          <a:ln/>
        </p:spPr>
        <p:txBody>
          <a:bodyPr wrap="square" lIns="0" tIns="0" rIns="0" bIns="0" rtlCol="0" anchor="t"/>
          <a:lstStyle/>
          <a:p>
            <a:pPr indent="0" marL="0">
              <a:buNone/>
            </a:pPr>
            <a:r>
              <a:rPr lang="en-US" sz="1400" dirty="0">
                <a:solidFill>
                  <a:srgbClr val="C3CBE0"/>
                </a:solidFill>
              </a:rPr>
              <a:t>Send payroll to Tally or Zoho Books.</a:t>
            </a:r>
            <a:endParaRPr lang="en-US"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3457C9"/>
                </a:solidFill>
              </a:rPr>
              <a:t>GROW THE TEAM</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10172A"/>
                </a:solidFill>
                <a:latin typeface="Century Gothic" pitchFamily="34" charset="0"/>
                <a:ea typeface="Century Gothic" pitchFamily="34" charset="-122"/>
                <a:cs typeface="Century Gothic" pitchFamily="34" charset="-120"/>
              </a:rPr>
              <a:t>Hire, review and look after your people</a:t>
            </a:r>
            <a:endParaRPr lang="en-US" sz="3200" dirty="0"/>
          </a:p>
        </p:txBody>
      </p:sp>
      <p:sp>
        <p:nvSpPr>
          <p:cNvPr id="4" name="Talent Recruitment"/>
          <p:cNvSpPr/>
          <p:nvPr/>
        </p:nvSpPr>
        <p:spPr>
          <a:xfrm>
            <a:off x="685800" y="1965960"/>
            <a:ext cx="3393338" cy="3566160"/>
          </a:xfrm>
          <a:prstGeom prst="roundRect">
            <a:avLst>
              <a:gd name="adj" fmla="val 4312"/>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5" name="Text 3"/>
          <p:cNvSpPr txBox="1"/>
          <p:nvPr/>
        </p:nvSpPr>
        <p:spPr>
          <a:xfrm>
            <a:off x="1051560" y="2331720"/>
            <a:ext cx="1828800" cy="731520"/>
          </a:xfrm>
          <a:prstGeom prst="rect">
            <a:avLst/>
          </a:prstGeom>
          <a:noFill/>
          <a:ln/>
        </p:spPr>
        <p:txBody>
          <a:bodyPr wrap="square" lIns="0" tIns="0" rIns="0" bIns="0" rtlCol="0" anchor="t"/>
          <a:lstStyle/>
          <a:p>
            <a:pPr indent="0" marL="0">
              <a:buNone/>
            </a:pPr>
            <a:r>
              <a:rPr lang="en-US" sz="4000" b="1" dirty="0">
                <a:solidFill>
                  <a:srgbClr val="4169E1"/>
                </a:solidFill>
                <a:latin typeface="+mj-lt" pitchFamily="34" charset="0"/>
                <a:ea typeface="+mj-lt" pitchFamily="34" charset="-122"/>
                <a:cs typeface="+mj-lt" pitchFamily="34" charset="-120"/>
              </a:rPr>
              <a:t>01</a:t>
            </a:r>
            <a:endParaRPr lang="en-US" sz="4000" dirty="0"/>
          </a:p>
        </p:txBody>
      </p:sp>
      <p:sp>
        <p:nvSpPr>
          <p:cNvPr id="6" name="Text 4"/>
          <p:cNvSpPr txBox="1"/>
          <p:nvPr/>
        </p:nvSpPr>
        <p:spPr>
          <a:xfrm>
            <a:off x="1051560" y="3246120"/>
            <a:ext cx="2661818" cy="457200"/>
          </a:xfrm>
          <a:prstGeom prst="rect">
            <a:avLst/>
          </a:prstGeom>
          <a:noFill/>
          <a:ln/>
        </p:spPr>
        <p:txBody>
          <a:bodyPr wrap="square" lIns="0" tIns="0" rIns="0" bIns="0" rtlCol="0" anchor="t"/>
          <a:lstStyle/>
          <a:p>
            <a:pPr indent="0" marL="0">
              <a:buNone/>
            </a:pPr>
            <a:r>
              <a:rPr lang="en-US" sz="2200" b="1" dirty="0">
                <a:solidFill>
                  <a:srgbClr val="10172A"/>
                </a:solidFill>
                <a:latin typeface="+mj-lt" pitchFamily="34" charset="0"/>
                <a:ea typeface="+mj-lt" pitchFamily="34" charset="-122"/>
                <a:cs typeface="+mj-lt" pitchFamily="34" charset="-120"/>
              </a:rPr>
              <a:t>Recruitment</a:t>
            </a:r>
            <a:endParaRPr lang="en-US" sz="2200" dirty="0"/>
          </a:p>
        </p:txBody>
      </p:sp>
      <p:sp>
        <p:nvSpPr>
          <p:cNvPr id="7" name="Text 5"/>
          <p:cNvSpPr txBox="1"/>
          <p:nvPr/>
        </p:nvSpPr>
        <p:spPr>
          <a:xfrm>
            <a:off x="1051560" y="3840480"/>
            <a:ext cx="2661818" cy="1371600"/>
          </a:xfrm>
          <a:prstGeom prst="rect">
            <a:avLst/>
          </a:prstGeom>
          <a:noFill/>
          <a:ln/>
        </p:spPr>
        <p:txBody>
          <a:bodyPr wrap="square" lIns="0" tIns="0" rIns="0" bIns="0" rtlCol="0" anchor="t"/>
          <a:lstStyle/>
          <a:p>
            <a:pPr indent="0" marL="0">
              <a:lnSpc>
                <a:spcPct val="115000"/>
              </a:lnSpc>
              <a:buNone/>
            </a:pPr>
            <a:r>
              <a:rPr lang="en-US" sz="1600" dirty="0">
                <a:solidFill>
                  <a:srgbClr val="4A5568"/>
                </a:solidFill>
              </a:rPr>
              <a:t>Job requirements, candidates and interview feedback in one pipeline.</a:t>
            </a:r>
            <a:endParaRPr lang="en-US" sz="1600" dirty="0"/>
          </a:p>
        </p:txBody>
      </p:sp>
      <p:sp>
        <p:nvSpPr>
          <p:cNvPr id="8" name="Talent Performance"/>
          <p:cNvSpPr/>
          <p:nvPr/>
        </p:nvSpPr>
        <p:spPr>
          <a:xfrm>
            <a:off x="4399178" y="1965960"/>
            <a:ext cx="3393338" cy="3566160"/>
          </a:xfrm>
          <a:prstGeom prst="roundRect">
            <a:avLst>
              <a:gd name="adj" fmla="val 4312"/>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9" name="Text 7"/>
          <p:cNvSpPr txBox="1"/>
          <p:nvPr/>
        </p:nvSpPr>
        <p:spPr>
          <a:xfrm>
            <a:off x="4764938" y="2331720"/>
            <a:ext cx="1828800" cy="731520"/>
          </a:xfrm>
          <a:prstGeom prst="rect">
            <a:avLst/>
          </a:prstGeom>
          <a:noFill/>
          <a:ln/>
        </p:spPr>
        <p:txBody>
          <a:bodyPr wrap="square" lIns="0" tIns="0" rIns="0" bIns="0" rtlCol="0" anchor="t"/>
          <a:lstStyle/>
          <a:p>
            <a:pPr indent="0" marL="0">
              <a:buNone/>
            </a:pPr>
            <a:r>
              <a:rPr lang="en-US" sz="4000" b="1" dirty="0">
                <a:solidFill>
                  <a:srgbClr val="5446D9"/>
                </a:solidFill>
                <a:latin typeface="+mj-lt" pitchFamily="34" charset="0"/>
                <a:ea typeface="+mj-lt" pitchFamily="34" charset="-122"/>
                <a:cs typeface="+mj-lt" pitchFamily="34" charset="-120"/>
              </a:rPr>
              <a:t>02</a:t>
            </a:r>
            <a:endParaRPr lang="en-US" sz="4000" dirty="0"/>
          </a:p>
        </p:txBody>
      </p:sp>
      <p:sp>
        <p:nvSpPr>
          <p:cNvPr id="10" name="Text 8"/>
          <p:cNvSpPr txBox="1"/>
          <p:nvPr/>
        </p:nvSpPr>
        <p:spPr>
          <a:xfrm>
            <a:off x="4764938" y="3246120"/>
            <a:ext cx="2661818" cy="457200"/>
          </a:xfrm>
          <a:prstGeom prst="rect">
            <a:avLst/>
          </a:prstGeom>
          <a:noFill/>
          <a:ln/>
        </p:spPr>
        <p:txBody>
          <a:bodyPr wrap="square" lIns="0" tIns="0" rIns="0" bIns="0" rtlCol="0" anchor="t"/>
          <a:lstStyle/>
          <a:p>
            <a:pPr indent="0" marL="0">
              <a:buNone/>
            </a:pPr>
            <a:r>
              <a:rPr lang="en-US" sz="2200" b="1" dirty="0">
                <a:solidFill>
                  <a:srgbClr val="10172A"/>
                </a:solidFill>
                <a:latin typeface="+mj-lt" pitchFamily="34" charset="0"/>
                <a:ea typeface="+mj-lt" pitchFamily="34" charset="-122"/>
                <a:cs typeface="+mj-lt" pitchFamily="34" charset="-120"/>
              </a:rPr>
              <a:t>Performance</a:t>
            </a:r>
            <a:endParaRPr lang="en-US" sz="2200" dirty="0"/>
          </a:p>
        </p:txBody>
      </p:sp>
      <p:sp>
        <p:nvSpPr>
          <p:cNvPr id="11" name="Text 9"/>
          <p:cNvSpPr txBox="1"/>
          <p:nvPr/>
        </p:nvSpPr>
        <p:spPr>
          <a:xfrm>
            <a:off x="4764938" y="3840480"/>
            <a:ext cx="2661818" cy="1371600"/>
          </a:xfrm>
          <a:prstGeom prst="rect">
            <a:avLst/>
          </a:prstGeom>
          <a:noFill/>
          <a:ln/>
        </p:spPr>
        <p:txBody>
          <a:bodyPr wrap="square" lIns="0" tIns="0" rIns="0" bIns="0" rtlCol="0" anchor="t"/>
          <a:lstStyle/>
          <a:p>
            <a:pPr indent="0" marL="0">
              <a:lnSpc>
                <a:spcPct val="115000"/>
              </a:lnSpc>
              <a:buNone/>
            </a:pPr>
            <a:r>
              <a:rPr lang="en-US" sz="1600" dirty="0">
                <a:solidFill>
                  <a:srgbClr val="4A5568"/>
                </a:solidFill>
              </a:rPr>
              <a:t>Goals and reviews that managers and employees both see.</a:t>
            </a:r>
            <a:endParaRPr lang="en-US" sz="1600" dirty="0"/>
          </a:p>
        </p:txBody>
      </p:sp>
      <p:sp>
        <p:nvSpPr>
          <p:cNvPr id="12" name="Talent Expenses &amp; news"/>
          <p:cNvSpPr/>
          <p:nvPr/>
        </p:nvSpPr>
        <p:spPr>
          <a:xfrm>
            <a:off x="8112557" y="1965960"/>
            <a:ext cx="3393338" cy="3566160"/>
          </a:xfrm>
          <a:prstGeom prst="roundRect">
            <a:avLst>
              <a:gd name="adj" fmla="val 4312"/>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3" name="Text 11"/>
          <p:cNvSpPr txBox="1"/>
          <p:nvPr/>
        </p:nvSpPr>
        <p:spPr>
          <a:xfrm>
            <a:off x="8478317" y="2331720"/>
            <a:ext cx="1828800" cy="731520"/>
          </a:xfrm>
          <a:prstGeom prst="rect">
            <a:avLst/>
          </a:prstGeom>
          <a:noFill/>
          <a:ln/>
        </p:spPr>
        <p:txBody>
          <a:bodyPr wrap="square" lIns="0" tIns="0" rIns="0" bIns="0" rtlCol="0" anchor="t"/>
          <a:lstStyle/>
          <a:p>
            <a:pPr indent="0" marL="0">
              <a:buNone/>
            </a:pPr>
            <a:r>
              <a:rPr lang="en-US" sz="4000" b="1" dirty="0">
                <a:solidFill>
                  <a:srgbClr val="9A6519"/>
                </a:solidFill>
                <a:latin typeface="+mj-lt" pitchFamily="34" charset="0"/>
                <a:ea typeface="+mj-lt" pitchFamily="34" charset="-122"/>
                <a:cs typeface="+mj-lt" pitchFamily="34" charset="-120"/>
              </a:rPr>
              <a:t>03</a:t>
            </a:r>
            <a:endParaRPr lang="en-US" sz="4000" dirty="0"/>
          </a:p>
        </p:txBody>
      </p:sp>
      <p:sp>
        <p:nvSpPr>
          <p:cNvPr id="14" name="Text 12"/>
          <p:cNvSpPr txBox="1"/>
          <p:nvPr/>
        </p:nvSpPr>
        <p:spPr>
          <a:xfrm>
            <a:off x="8478317" y="3246120"/>
            <a:ext cx="2661818" cy="457200"/>
          </a:xfrm>
          <a:prstGeom prst="rect">
            <a:avLst/>
          </a:prstGeom>
          <a:noFill/>
          <a:ln/>
        </p:spPr>
        <p:txBody>
          <a:bodyPr wrap="square" lIns="0" tIns="0" rIns="0" bIns="0" rtlCol="0" anchor="t"/>
          <a:lstStyle/>
          <a:p>
            <a:pPr indent="0" marL="0">
              <a:buNone/>
            </a:pPr>
            <a:r>
              <a:rPr lang="en-US" sz="2200" b="1" dirty="0">
                <a:solidFill>
                  <a:srgbClr val="10172A"/>
                </a:solidFill>
                <a:latin typeface="+mj-lt" pitchFamily="34" charset="0"/>
                <a:ea typeface="+mj-lt" pitchFamily="34" charset="-122"/>
                <a:cs typeface="+mj-lt" pitchFamily="34" charset="-120"/>
              </a:rPr>
              <a:t>Expenses &amp; news</a:t>
            </a:r>
            <a:endParaRPr lang="en-US" sz="2200" dirty="0"/>
          </a:p>
        </p:txBody>
      </p:sp>
      <p:sp>
        <p:nvSpPr>
          <p:cNvPr id="15" name="Text 13"/>
          <p:cNvSpPr txBox="1"/>
          <p:nvPr/>
        </p:nvSpPr>
        <p:spPr>
          <a:xfrm>
            <a:off x="8478317" y="3840480"/>
            <a:ext cx="2661818" cy="1371600"/>
          </a:xfrm>
          <a:prstGeom prst="rect">
            <a:avLst/>
          </a:prstGeom>
          <a:noFill/>
          <a:ln/>
        </p:spPr>
        <p:txBody>
          <a:bodyPr wrap="square" lIns="0" tIns="0" rIns="0" bIns="0" rtlCol="0" anchor="t"/>
          <a:lstStyle/>
          <a:p>
            <a:pPr indent="0" marL="0">
              <a:lnSpc>
                <a:spcPct val="115000"/>
              </a:lnSpc>
              <a:buNone/>
            </a:pPr>
            <a:r>
              <a:rPr lang="en-US" sz="1600" dirty="0">
                <a:solidFill>
                  <a:srgbClr val="4A5568"/>
                </a:solidFill>
              </a:rPr>
              <a:t>Expense claims with approvals, and company announcements.</a:t>
            </a:r>
            <a:endParaRPr lang="en-US" sz="1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FFD66B"/>
                </a:solidFill>
              </a:rPr>
              <a:t>OUR HIGHLIGHT · VETTRI AGENT</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F6F7FB"/>
                </a:solidFill>
                <a:latin typeface="Century Gothic" pitchFamily="34" charset="0"/>
                <a:ea typeface="Century Gothic" pitchFamily="34" charset="-122"/>
                <a:cs typeface="Century Gothic" pitchFamily="34" charset="-120"/>
              </a:rPr>
              <a:t>Every company laptop, under control</a:t>
            </a:r>
            <a:endParaRPr lang="en-US" sz="3200" dirty="0"/>
          </a:p>
        </p:txBody>
      </p:sp>
      <p:pic>
        <p:nvPicPr>
          <p:cNvPr id="4" name="Image 0" descr="preencoded.png">    </p:cNvPr>
          <p:cNvPicPr>
            <a:picLocks noChangeAspect="1"/>
          </p:cNvPicPr>
          <p:nvPr/>
        </p:nvPicPr>
        <p:blipFill>
          <a:blip r:embed="rId1"/>
          <a:stretch>
            <a:fillRect/>
          </a:stretch>
        </p:blipFill>
        <p:spPr>
          <a:xfrm>
            <a:off x="685800" y="1984248"/>
            <a:ext cx="365760" cy="365760"/>
          </a:xfrm>
          <a:prstGeom prst="rect">
            <a:avLst/>
          </a:prstGeom>
        </p:spPr>
      </p:pic>
      <p:sp>
        <p:nvSpPr>
          <p:cNvPr id="5" name="Text 2"/>
          <p:cNvSpPr txBox="1"/>
          <p:nvPr/>
        </p:nvSpPr>
        <p:spPr>
          <a:xfrm>
            <a:off x="1280160" y="1965960"/>
            <a:ext cx="6126480" cy="457200"/>
          </a:xfrm>
          <a:prstGeom prst="rect">
            <a:avLst/>
          </a:prstGeom>
          <a:noFill/>
          <a:ln/>
        </p:spPr>
        <p:txBody>
          <a:bodyPr wrap="square" lIns="0" tIns="0" rIns="0" bIns="0" rtlCol="0" anchor="ctr"/>
          <a:lstStyle/>
          <a:p>
            <a:pPr indent="0" marL="0">
              <a:buNone/>
            </a:pPr>
            <a:r>
              <a:rPr lang="en-US" sz="1800" dirty="0">
                <a:solidFill>
                  <a:srgbClr val="F6F7FB"/>
                </a:solidFill>
              </a:rPr>
              <a:t>See every laptop, its hardware and installed software</a:t>
            </a:r>
            <a:endParaRPr lang="en-US" sz="1800" dirty="0"/>
          </a:p>
        </p:txBody>
      </p:sp>
      <p:pic>
        <p:nvPicPr>
          <p:cNvPr id="6" name="Image 1" descr="preencoded.png">    </p:cNvPr>
          <p:cNvPicPr>
            <a:picLocks noChangeAspect="1"/>
          </p:cNvPicPr>
          <p:nvPr/>
        </p:nvPicPr>
        <p:blipFill>
          <a:blip r:embed="rId2"/>
          <a:stretch>
            <a:fillRect/>
          </a:stretch>
        </p:blipFill>
        <p:spPr>
          <a:xfrm>
            <a:off x="685800" y="2715768"/>
            <a:ext cx="365760" cy="365760"/>
          </a:xfrm>
          <a:prstGeom prst="rect">
            <a:avLst/>
          </a:prstGeom>
        </p:spPr>
      </p:pic>
      <p:sp>
        <p:nvSpPr>
          <p:cNvPr id="7" name="Text 3"/>
          <p:cNvSpPr txBox="1"/>
          <p:nvPr/>
        </p:nvSpPr>
        <p:spPr>
          <a:xfrm>
            <a:off x="1280160" y="2697480"/>
            <a:ext cx="6126480" cy="457200"/>
          </a:xfrm>
          <a:prstGeom prst="rect">
            <a:avLst/>
          </a:prstGeom>
          <a:noFill/>
          <a:ln/>
        </p:spPr>
        <p:txBody>
          <a:bodyPr wrap="square" lIns="0" tIns="0" rIns="0" bIns="0" rtlCol="0" anchor="ctr"/>
          <a:lstStyle/>
          <a:p>
            <a:pPr indent="0" marL="0">
              <a:buNone/>
            </a:pPr>
            <a:r>
              <a:rPr lang="en-US" sz="1800" dirty="0">
                <a:solidFill>
                  <a:srgbClr val="F6F7FB"/>
                </a:solidFill>
              </a:rPr>
              <a:t>Install approved software remotely</a:t>
            </a:r>
            <a:endParaRPr lang="en-US" sz="1800" dirty="0"/>
          </a:p>
        </p:txBody>
      </p:sp>
      <p:pic>
        <p:nvPicPr>
          <p:cNvPr id="8" name="Image 2" descr="preencoded.png">    </p:cNvPr>
          <p:cNvPicPr>
            <a:picLocks noChangeAspect="1"/>
          </p:cNvPicPr>
          <p:nvPr/>
        </p:nvPicPr>
        <p:blipFill>
          <a:blip r:embed="rId3"/>
          <a:stretch>
            <a:fillRect/>
          </a:stretch>
        </p:blipFill>
        <p:spPr>
          <a:xfrm>
            <a:off x="685800" y="3447288"/>
            <a:ext cx="365760" cy="365760"/>
          </a:xfrm>
          <a:prstGeom prst="rect">
            <a:avLst/>
          </a:prstGeom>
        </p:spPr>
      </p:pic>
      <p:sp>
        <p:nvSpPr>
          <p:cNvPr id="9" name="Text 4"/>
          <p:cNvSpPr txBox="1"/>
          <p:nvPr/>
        </p:nvSpPr>
        <p:spPr>
          <a:xfrm>
            <a:off x="1280160" y="3429000"/>
            <a:ext cx="6126480" cy="457200"/>
          </a:xfrm>
          <a:prstGeom prst="rect">
            <a:avLst/>
          </a:prstGeom>
          <a:noFill/>
          <a:ln/>
        </p:spPr>
        <p:txBody>
          <a:bodyPr wrap="square" lIns="0" tIns="0" rIns="0" bIns="0" rtlCol="0" anchor="ctr"/>
          <a:lstStyle/>
          <a:p>
            <a:pPr indent="0" marL="0">
              <a:buNone/>
            </a:pPr>
            <a:r>
              <a:rPr lang="en-US" sz="1800" dirty="0">
                <a:solidFill>
                  <a:srgbClr val="F6F7FB"/>
                </a:solidFill>
              </a:rPr>
              <a:t>One-click fixes: DNS, printer, display, restart</a:t>
            </a:r>
            <a:endParaRPr lang="en-US" sz="1800" dirty="0"/>
          </a:p>
        </p:txBody>
      </p:sp>
      <p:pic>
        <p:nvPicPr>
          <p:cNvPr id="10" name="Image 3" descr="preencoded.png">    </p:cNvPr>
          <p:cNvPicPr>
            <a:picLocks noChangeAspect="1"/>
          </p:cNvPicPr>
          <p:nvPr/>
        </p:nvPicPr>
        <p:blipFill>
          <a:blip r:embed="rId4"/>
          <a:stretch>
            <a:fillRect/>
          </a:stretch>
        </p:blipFill>
        <p:spPr>
          <a:xfrm>
            <a:off x="685800" y="4178808"/>
            <a:ext cx="365760" cy="365760"/>
          </a:xfrm>
          <a:prstGeom prst="rect">
            <a:avLst/>
          </a:prstGeom>
        </p:spPr>
      </p:pic>
      <p:sp>
        <p:nvSpPr>
          <p:cNvPr id="11" name="Text 5"/>
          <p:cNvSpPr txBox="1"/>
          <p:nvPr/>
        </p:nvSpPr>
        <p:spPr>
          <a:xfrm>
            <a:off x="1280160" y="4160520"/>
            <a:ext cx="6126480" cy="457200"/>
          </a:xfrm>
          <a:prstGeom prst="rect">
            <a:avLst/>
          </a:prstGeom>
          <a:noFill/>
          <a:ln/>
        </p:spPr>
        <p:txBody>
          <a:bodyPr wrap="square" lIns="0" tIns="0" rIns="0" bIns="0" rtlCol="0" anchor="ctr"/>
          <a:lstStyle/>
          <a:p>
            <a:pPr indent="0" marL="0">
              <a:buNone/>
            </a:pPr>
            <a:r>
              <a:rPr lang="en-US" sz="1800" dirty="0">
                <a:solidFill>
                  <a:srgbClr val="F6F7FB"/>
                </a:solidFill>
              </a:rPr>
              <a:t>Remote support – the employee is always notified</a:t>
            </a:r>
            <a:endParaRPr lang="en-US" sz="1800" dirty="0"/>
          </a:p>
        </p:txBody>
      </p:sp>
      <p:pic>
        <p:nvPicPr>
          <p:cNvPr id="12" name="Image 4" descr="preencoded.png">    </p:cNvPr>
          <p:cNvPicPr>
            <a:picLocks noChangeAspect="1"/>
          </p:cNvPicPr>
          <p:nvPr/>
        </p:nvPicPr>
        <p:blipFill>
          <a:blip r:embed="rId5"/>
          <a:stretch>
            <a:fillRect/>
          </a:stretch>
        </p:blipFill>
        <p:spPr>
          <a:xfrm>
            <a:off x="685800" y="4910328"/>
            <a:ext cx="365760" cy="365760"/>
          </a:xfrm>
          <a:prstGeom prst="rect">
            <a:avLst/>
          </a:prstGeom>
        </p:spPr>
      </p:pic>
      <p:sp>
        <p:nvSpPr>
          <p:cNvPr id="13" name="Text 6"/>
          <p:cNvSpPr txBox="1"/>
          <p:nvPr/>
        </p:nvSpPr>
        <p:spPr>
          <a:xfrm>
            <a:off x="1280160" y="4892040"/>
            <a:ext cx="6126480" cy="457200"/>
          </a:xfrm>
          <a:prstGeom prst="rect">
            <a:avLst/>
          </a:prstGeom>
          <a:noFill/>
          <a:ln/>
        </p:spPr>
        <p:txBody>
          <a:bodyPr wrap="square" lIns="0" tIns="0" rIns="0" bIns="0" rtlCol="0" anchor="ctr"/>
          <a:lstStyle/>
          <a:p>
            <a:pPr indent="0" marL="0">
              <a:buNone/>
            </a:pPr>
            <a:r>
              <a:rPr lang="en-US" sz="1800" dirty="0">
                <a:solidFill>
                  <a:srgbClr val="F6F7FB"/>
                </a:solidFill>
              </a:rPr>
              <a:t>Updates itself, checked before every install</a:t>
            </a:r>
            <a:endParaRPr lang="en-US" sz="1800" dirty="0"/>
          </a:p>
        </p:txBody>
      </p:sp>
      <p:sp>
        <p:nvSpPr>
          <p:cNvPr id="14" name="Tray mock-up"/>
          <p:cNvSpPr/>
          <p:nvPr/>
        </p:nvSpPr>
        <p:spPr>
          <a:xfrm>
            <a:off x="7863840" y="1783080"/>
            <a:ext cx="3639312" cy="3931920"/>
          </a:xfrm>
          <a:prstGeom prst="roundRect">
            <a:avLst>
              <a:gd name="adj" fmla="val 4523"/>
            </a:avLst>
          </a:prstGeom>
          <a:solidFill>
            <a:srgbClr val="F6F7FB"/>
          </a:solidFill>
          <a:ln/>
          <a:effectLst>
            <a:outerShdw sx="100000" sy="100000" kx="0" ky="0" algn="bl" rotWithShape="0" blurRad="304800" dist="101600" dir="5400000">
              <a:srgbClr val="10172A">
                <a:alpha val="35000"/>
              </a:srgbClr>
            </a:outerShdw>
          </a:effectLst>
        </p:spPr>
      </p:sp>
      <p:pic>
        <p:nvPicPr>
          <p:cNvPr id="15" name="Image 5" descr="Vettri icon">    </p:cNvPr>
          <p:cNvPicPr>
            <a:picLocks noChangeAspect="1"/>
          </p:cNvPicPr>
          <p:nvPr/>
        </p:nvPicPr>
        <p:blipFill>
          <a:blip r:embed="rId6"/>
          <a:stretch>
            <a:fillRect/>
          </a:stretch>
        </p:blipFill>
        <p:spPr>
          <a:xfrm>
            <a:off x="8138160" y="2039112"/>
            <a:ext cx="457200" cy="457200"/>
          </a:xfrm>
          <a:prstGeom prst="rect">
            <a:avLst/>
          </a:prstGeom>
        </p:spPr>
      </p:pic>
      <p:sp>
        <p:nvSpPr>
          <p:cNvPr id="16" name="Text 8"/>
          <p:cNvSpPr txBox="1"/>
          <p:nvPr/>
        </p:nvSpPr>
        <p:spPr>
          <a:xfrm>
            <a:off x="8732520" y="2011680"/>
            <a:ext cx="2542032" cy="274320"/>
          </a:xfrm>
          <a:prstGeom prst="rect">
            <a:avLst/>
          </a:prstGeom>
          <a:noFill/>
          <a:ln/>
        </p:spPr>
        <p:txBody>
          <a:bodyPr wrap="square" lIns="0" tIns="0" rIns="0" bIns="0" rtlCol="0" anchor="t"/>
          <a:lstStyle/>
          <a:p>
            <a:pPr indent="0" marL="0">
              <a:buNone/>
            </a:pPr>
            <a:r>
              <a:rPr lang="en-US" sz="1500" b="1" dirty="0">
                <a:solidFill>
                  <a:srgbClr val="10172A"/>
                </a:solidFill>
              </a:rPr>
              <a:t>Vettri Agent</a:t>
            </a:r>
            <a:endParaRPr lang="en-US" sz="1500" dirty="0"/>
          </a:p>
        </p:txBody>
      </p:sp>
      <p:sp>
        <p:nvSpPr>
          <p:cNvPr id="17" name="Text 9"/>
          <p:cNvSpPr txBox="1"/>
          <p:nvPr/>
        </p:nvSpPr>
        <p:spPr>
          <a:xfrm>
            <a:off x="8732520" y="2286000"/>
            <a:ext cx="2542032" cy="274320"/>
          </a:xfrm>
          <a:prstGeom prst="rect">
            <a:avLst/>
          </a:prstGeom>
          <a:noFill/>
          <a:ln/>
        </p:spPr>
        <p:txBody>
          <a:bodyPr wrap="square" lIns="0" tIns="0" rIns="0" bIns="0" rtlCol="0" anchor="t"/>
          <a:lstStyle/>
          <a:p>
            <a:pPr indent="0" marL="0">
              <a:buNone/>
            </a:pPr>
            <a:r>
              <a:rPr lang="en-US" sz="1200" dirty="0">
                <a:solidFill>
                  <a:srgbClr val="6A7390"/>
                </a:solidFill>
              </a:rPr>
              <a:t>Managed by Acme Pvt Ltd</a:t>
            </a:r>
            <a:endParaRPr lang="en-US" sz="1200" dirty="0"/>
          </a:p>
        </p:txBody>
      </p:sp>
      <p:sp>
        <p:nvSpPr>
          <p:cNvPr id="18" name="Shape 10"/>
          <p:cNvSpPr/>
          <p:nvPr/>
        </p:nvSpPr>
        <p:spPr>
          <a:xfrm>
            <a:off x="8046720" y="2743200"/>
            <a:ext cx="3273552" cy="0"/>
          </a:xfrm>
          <a:prstGeom prst="line">
            <a:avLst/>
          </a:prstGeom>
          <a:noFill/>
          <a:ln w="9525">
            <a:solidFill>
              <a:srgbClr val="E1E5F0"/>
            </a:solidFill>
            <a:prstDash val="solid"/>
          </a:ln>
        </p:spPr>
      </p:sp>
      <p:sp>
        <p:nvSpPr>
          <p:cNvPr id="19" name="Text 11"/>
          <p:cNvSpPr txBox="1"/>
          <p:nvPr/>
        </p:nvSpPr>
        <p:spPr>
          <a:xfrm>
            <a:off x="8138160" y="2880360"/>
            <a:ext cx="3090672" cy="274320"/>
          </a:xfrm>
          <a:prstGeom prst="rect">
            <a:avLst/>
          </a:prstGeom>
          <a:noFill/>
          <a:ln/>
        </p:spPr>
        <p:txBody>
          <a:bodyPr wrap="square" lIns="0" tIns="0" rIns="0" bIns="0" rtlCol="0" anchor="t"/>
          <a:lstStyle/>
          <a:p>
            <a:pPr indent="0" marL="0">
              <a:buNone/>
            </a:pPr>
            <a:r>
              <a:rPr lang="en-US" sz="1400" b="1" dirty="0">
                <a:solidFill>
                  <a:srgbClr val="12735A"/>
                </a:solidFill>
              </a:rPr>
              <a:t>● Clocked in since 9:31 AM</a:t>
            </a:r>
            <a:endParaRPr lang="en-US" sz="1400" dirty="0"/>
          </a:p>
        </p:txBody>
      </p:sp>
      <p:sp>
        <p:nvSpPr>
          <p:cNvPr id="20" name="Text 12"/>
          <p:cNvSpPr txBox="1"/>
          <p:nvPr/>
        </p:nvSpPr>
        <p:spPr>
          <a:xfrm>
            <a:off x="8138160" y="3154680"/>
            <a:ext cx="3090672" cy="274320"/>
          </a:xfrm>
          <a:prstGeom prst="rect">
            <a:avLst/>
          </a:prstGeom>
          <a:noFill/>
          <a:ln/>
        </p:spPr>
        <p:txBody>
          <a:bodyPr wrap="square" lIns="0" tIns="0" rIns="0" bIns="0" rtlCol="0" anchor="t"/>
          <a:lstStyle/>
          <a:p>
            <a:pPr indent="0" marL="0">
              <a:buNone/>
            </a:pPr>
            <a:r>
              <a:rPr lang="en-US" sz="1200" dirty="0">
                <a:solidFill>
                  <a:srgbClr val="6A7390"/>
                </a:solidFill>
              </a:rPr>
              <a:t>3h 12m worked today</a:t>
            </a:r>
            <a:endParaRPr lang="en-US" sz="1200" dirty="0"/>
          </a:p>
        </p:txBody>
      </p:sp>
      <p:sp>
        <p:nvSpPr>
          <p:cNvPr id="21" name="Shape 13"/>
          <p:cNvSpPr/>
          <p:nvPr/>
        </p:nvSpPr>
        <p:spPr>
          <a:xfrm>
            <a:off x="8046720" y="3566160"/>
            <a:ext cx="3273552" cy="0"/>
          </a:xfrm>
          <a:prstGeom prst="line">
            <a:avLst/>
          </a:prstGeom>
          <a:noFill/>
          <a:ln w="9525">
            <a:solidFill>
              <a:srgbClr val="E1E5F0"/>
            </a:solidFill>
            <a:prstDash val="solid"/>
          </a:ln>
        </p:spPr>
      </p:sp>
      <p:sp>
        <p:nvSpPr>
          <p:cNvPr id="22" name="Text 14"/>
          <p:cNvSpPr txBox="1"/>
          <p:nvPr/>
        </p:nvSpPr>
        <p:spPr>
          <a:xfrm>
            <a:off x="8138160" y="3675888"/>
            <a:ext cx="3090672" cy="320040"/>
          </a:xfrm>
          <a:prstGeom prst="rect">
            <a:avLst/>
          </a:prstGeom>
          <a:noFill/>
          <a:ln/>
        </p:spPr>
        <p:txBody>
          <a:bodyPr wrap="square" lIns="0" tIns="0" rIns="0" bIns="0" rtlCol="0" anchor="t"/>
          <a:lstStyle/>
          <a:p>
            <a:pPr indent="0" marL="0">
              <a:buNone/>
            </a:pPr>
            <a:r>
              <a:rPr lang="en-US" sz="1500" dirty="0">
                <a:solidFill>
                  <a:srgbClr val="10172A"/>
                </a:solidFill>
              </a:rPr>
              <a:t>Start break</a:t>
            </a:r>
            <a:endParaRPr lang="en-US" sz="1500" dirty="0"/>
          </a:p>
        </p:txBody>
      </p:sp>
      <p:sp>
        <p:nvSpPr>
          <p:cNvPr id="23" name="Shape 15"/>
          <p:cNvSpPr/>
          <p:nvPr/>
        </p:nvSpPr>
        <p:spPr>
          <a:xfrm>
            <a:off x="8046720" y="4069080"/>
            <a:ext cx="3273552" cy="0"/>
          </a:xfrm>
          <a:prstGeom prst="line">
            <a:avLst/>
          </a:prstGeom>
          <a:noFill/>
          <a:ln w="9525">
            <a:solidFill>
              <a:srgbClr val="E1E5F0"/>
            </a:solidFill>
            <a:prstDash val="solid"/>
          </a:ln>
        </p:spPr>
      </p:sp>
      <p:sp>
        <p:nvSpPr>
          <p:cNvPr id="24" name="Text 16"/>
          <p:cNvSpPr txBox="1"/>
          <p:nvPr/>
        </p:nvSpPr>
        <p:spPr>
          <a:xfrm>
            <a:off x="8138160" y="4178808"/>
            <a:ext cx="3090672" cy="320040"/>
          </a:xfrm>
          <a:prstGeom prst="rect">
            <a:avLst/>
          </a:prstGeom>
          <a:noFill/>
          <a:ln/>
        </p:spPr>
        <p:txBody>
          <a:bodyPr wrap="square" lIns="0" tIns="0" rIns="0" bIns="0" rtlCol="0" anchor="t"/>
          <a:lstStyle/>
          <a:p>
            <a:pPr indent="0" marL="0">
              <a:buNone/>
            </a:pPr>
            <a:r>
              <a:rPr lang="en-US" sz="1500" dirty="0">
                <a:solidFill>
                  <a:srgbClr val="10172A"/>
                </a:solidFill>
              </a:rPr>
              <a:t>Clock out</a:t>
            </a:r>
            <a:endParaRPr lang="en-US" sz="1500" dirty="0"/>
          </a:p>
        </p:txBody>
      </p:sp>
      <p:sp>
        <p:nvSpPr>
          <p:cNvPr id="25" name="Shape 17"/>
          <p:cNvSpPr/>
          <p:nvPr/>
        </p:nvSpPr>
        <p:spPr>
          <a:xfrm>
            <a:off x="8046720" y="4572000"/>
            <a:ext cx="3273552" cy="0"/>
          </a:xfrm>
          <a:prstGeom prst="line">
            <a:avLst/>
          </a:prstGeom>
          <a:noFill/>
          <a:ln w="9525">
            <a:solidFill>
              <a:srgbClr val="E1E5F0"/>
            </a:solidFill>
            <a:prstDash val="solid"/>
          </a:ln>
        </p:spPr>
      </p:sp>
      <p:sp>
        <p:nvSpPr>
          <p:cNvPr id="26" name="Text 18"/>
          <p:cNvSpPr txBox="1"/>
          <p:nvPr/>
        </p:nvSpPr>
        <p:spPr>
          <a:xfrm>
            <a:off x="8138160" y="4681728"/>
            <a:ext cx="3090672" cy="320040"/>
          </a:xfrm>
          <a:prstGeom prst="rect">
            <a:avLst/>
          </a:prstGeom>
          <a:noFill/>
          <a:ln/>
        </p:spPr>
        <p:txBody>
          <a:bodyPr wrap="square" lIns="0" tIns="0" rIns="0" bIns="0" rtlCol="0" anchor="t"/>
          <a:lstStyle/>
          <a:p>
            <a:pPr indent="0" marL="0">
              <a:buNone/>
            </a:pPr>
            <a:r>
              <a:rPr lang="en-US" sz="1500" dirty="0">
                <a:solidFill>
                  <a:srgbClr val="10172A"/>
                </a:solidFill>
              </a:rPr>
              <a:t>Open Vettri</a:t>
            </a:r>
            <a:endParaRPr lang="en-US" sz="1500" dirty="0"/>
          </a:p>
        </p:txBody>
      </p:sp>
      <p:sp>
        <p:nvSpPr>
          <p:cNvPr id="27" name="Shape 19"/>
          <p:cNvSpPr/>
          <p:nvPr/>
        </p:nvSpPr>
        <p:spPr>
          <a:xfrm>
            <a:off x="8046720" y="5074920"/>
            <a:ext cx="3273552" cy="0"/>
          </a:xfrm>
          <a:prstGeom prst="line">
            <a:avLst/>
          </a:prstGeom>
          <a:noFill/>
          <a:ln w="9525">
            <a:solidFill>
              <a:srgbClr val="E1E5F0"/>
            </a:solidFill>
            <a:prstDash val="solid"/>
          </a:ln>
        </p:spPr>
      </p:sp>
      <p:sp>
        <p:nvSpPr>
          <p:cNvPr id="28" name="Text 20"/>
          <p:cNvSpPr txBox="1"/>
          <p:nvPr/>
        </p:nvSpPr>
        <p:spPr>
          <a:xfrm>
            <a:off x="8138160" y="5184648"/>
            <a:ext cx="3090672" cy="320040"/>
          </a:xfrm>
          <a:prstGeom prst="rect">
            <a:avLst/>
          </a:prstGeom>
          <a:noFill/>
          <a:ln/>
        </p:spPr>
        <p:txBody>
          <a:bodyPr wrap="square" lIns="0" tIns="0" rIns="0" bIns="0" rtlCol="0" anchor="t"/>
          <a:lstStyle/>
          <a:p>
            <a:pPr indent="0" marL="0">
              <a:buNone/>
            </a:pPr>
            <a:r>
              <a:rPr lang="en-US" sz="1500" dirty="0">
                <a:solidFill>
                  <a:srgbClr val="3457C9"/>
                </a:solidFill>
              </a:rPr>
              <a:t>What does Vettri collect?</a:t>
            </a:r>
            <a:endParaRPr lang="en-US" sz="1500" dirty="0"/>
          </a:p>
        </p:txBody>
      </p:sp>
      <p:sp>
        <p:nvSpPr>
          <p:cNvPr id="29" name="Text 21"/>
          <p:cNvSpPr txBox="1"/>
          <p:nvPr/>
        </p:nvSpPr>
        <p:spPr>
          <a:xfrm>
            <a:off x="7863840" y="5852160"/>
            <a:ext cx="3639312" cy="274320"/>
          </a:xfrm>
          <a:prstGeom prst="rect">
            <a:avLst/>
          </a:prstGeom>
          <a:noFill/>
          <a:ln/>
        </p:spPr>
        <p:txBody>
          <a:bodyPr wrap="square" lIns="0" tIns="0" rIns="0" bIns="0" rtlCol="0" anchor="t"/>
          <a:lstStyle/>
          <a:p>
            <a:pPr algn="ctr" indent="0" marL="0">
              <a:buNone/>
            </a:pPr>
            <a:r>
              <a:rPr lang="en-US" sz="1200" dirty="0">
                <a:solidFill>
                  <a:srgbClr val="DCE3FF"/>
                </a:solidFill>
              </a:rPr>
              <a:t>The tray menu each employee sees (example)</a:t>
            </a:r>
            <a:endParaRPr lang="en-US" sz="12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DCE3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3457C9"/>
                </a:solidFill>
              </a:rPr>
              <a:t>EMPLOYEE EXPERIENCE</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10172A"/>
                </a:solidFill>
                <a:latin typeface="Century Gothic" pitchFamily="34" charset="0"/>
                <a:ea typeface="Century Gothic" pitchFamily="34" charset="-122"/>
                <a:cs typeface="Century Gothic" pitchFamily="34" charset="-120"/>
              </a:rPr>
              <a:t>Employees help themselves</a:t>
            </a:r>
            <a:endParaRPr lang="en-US" sz="3200" dirty="0"/>
          </a:p>
        </p:txBody>
      </p:sp>
      <p:sp>
        <p:nvSpPr>
          <p:cNvPr id="4" name="Employee Self-service tile"/>
          <p:cNvSpPr/>
          <p:nvPr/>
        </p:nvSpPr>
        <p:spPr>
          <a:xfrm>
            <a:off x="685800" y="1965960"/>
            <a:ext cx="594360" cy="594360"/>
          </a:xfrm>
          <a:prstGeom prst="roundRect">
            <a:avLst>
              <a:gd name="adj" fmla="val 18462"/>
            </a:avLst>
          </a:prstGeom>
          <a:solidFill>
            <a:srgbClr val="E8EEFF"/>
          </a:solidFill>
          <a:ln/>
        </p:spPr>
      </p:sp>
      <p:pic>
        <p:nvPicPr>
          <p:cNvPr id="5" name="Image 0" descr="preencoded.png">    </p:cNvPr>
          <p:cNvPicPr>
            <a:picLocks noChangeAspect="1"/>
          </p:cNvPicPr>
          <p:nvPr/>
        </p:nvPicPr>
        <p:blipFill>
          <a:blip r:embed="rId1"/>
          <a:stretch>
            <a:fillRect/>
          </a:stretch>
        </p:blipFill>
        <p:spPr>
          <a:xfrm>
            <a:off x="834390" y="2114550"/>
            <a:ext cx="297180" cy="297180"/>
          </a:xfrm>
          <a:prstGeom prst="rect">
            <a:avLst/>
          </a:prstGeom>
        </p:spPr>
      </p:pic>
      <p:sp>
        <p:nvSpPr>
          <p:cNvPr id="6" name="Text 3"/>
          <p:cNvSpPr txBox="1"/>
          <p:nvPr/>
        </p:nvSpPr>
        <p:spPr>
          <a:xfrm>
            <a:off x="685800" y="2743200"/>
            <a:ext cx="2880360" cy="365760"/>
          </a:xfrm>
          <a:prstGeom prst="rect">
            <a:avLst/>
          </a:prstGeom>
          <a:noFill/>
          <a:ln/>
        </p:spPr>
        <p:txBody>
          <a:bodyPr wrap="square" lIns="0" tIns="0" rIns="0" bIns="0" rtlCol="0" anchor="t"/>
          <a:lstStyle/>
          <a:p>
            <a:pPr indent="0" marL="0">
              <a:buNone/>
            </a:pPr>
            <a:r>
              <a:rPr lang="en-US" sz="1800" b="1" dirty="0">
                <a:solidFill>
                  <a:srgbClr val="10172A"/>
                </a:solidFill>
                <a:latin typeface="+mj-lt" pitchFamily="34" charset="0"/>
                <a:ea typeface="+mj-lt" pitchFamily="34" charset="-122"/>
                <a:cs typeface="+mj-lt" pitchFamily="34" charset="-120"/>
              </a:rPr>
              <a:t>Self-service</a:t>
            </a:r>
            <a:endParaRPr lang="en-US" sz="1800" dirty="0"/>
          </a:p>
        </p:txBody>
      </p:sp>
      <p:sp>
        <p:nvSpPr>
          <p:cNvPr id="7" name="Text 4"/>
          <p:cNvSpPr txBox="1"/>
          <p:nvPr/>
        </p:nvSpPr>
        <p:spPr>
          <a:xfrm>
            <a:off x="685800" y="3154680"/>
            <a:ext cx="2880360" cy="640080"/>
          </a:xfrm>
          <a:prstGeom prst="rect">
            <a:avLst/>
          </a:prstGeom>
          <a:noFill/>
          <a:ln/>
        </p:spPr>
        <p:txBody>
          <a:bodyPr wrap="square" lIns="0" tIns="0" rIns="0" bIns="0" rtlCol="0" anchor="t"/>
          <a:lstStyle/>
          <a:p>
            <a:pPr indent="0" marL="0">
              <a:buNone/>
            </a:pPr>
            <a:r>
              <a:rPr lang="en-US" sz="1400" dirty="0">
                <a:solidFill>
                  <a:srgbClr val="4A5568"/>
                </a:solidFill>
              </a:rPr>
              <a:t>Payslips, leave balance, documents and tax forms.</a:t>
            </a:r>
            <a:endParaRPr lang="en-US" sz="1400" dirty="0"/>
          </a:p>
        </p:txBody>
      </p:sp>
      <p:sp>
        <p:nvSpPr>
          <p:cNvPr id="8" name="Employee Mobile app tile"/>
          <p:cNvSpPr/>
          <p:nvPr/>
        </p:nvSpPr>
        <p:spPr>
          <a:xfrm>
            <a:off x="3886200" y="1965960"/>
            <a:ext cx="594360" cy="594360"/>
          </a:xfrm>
          <a:prstGeom prst="roundRect">
            <a:avLst>
              <a:gd name="adj" fmla="val 18462"/>
            </a:avLst>
          </a:prstGeom>
          <a:solidFill>
            <a:srgbClr val="E8EEFF"/>
          </a:solidFill>
          <a:ln/>
        </p:spPr>
      </p:sp>
      <p:pic>
        <p:nvPicPr>
          <p:cNvPr id="9" name="Image 1" descr="preencoded.png">    </p:cNvPr>
          <p:cNvPicPr>
            <a:picLocks noChangeAspect="1"/>
          </p:cNvPicPr>
          <p:nvPr/>
        </p:nvPicPr>
        <p:blipFill>
          <a:blip r:embed="rId2"/>
          <a:stretch>
            <a:fillRect/>
          </a:stretch>
        </p:blipFill>
        <p:spPr>
          <a:xfrm>
            <a:off x="4034790" y="2114550"/>
            <a:ext cx="297180" cy="297180"/>
          </a:xfrm>
          <a:prstGeom prst="rect">
            <a:avLst/>
          </a:prstGeom>
        </p:spPr>
      </p:pic>
      <p:sp>
        <p:nvSpPr>
          <p:cNvPr id="10" name="Text 6"/>
          <p:cNvSpPr txBox="1"/>
          <p:nvPr/>
        </p:nvSpPr>
        <p:spPr>
          <a:xfrm>
            <a:off x="3886200" y="2743200"/>
            <a:ext cx="2880360" cy="365760"/>
          </a:xfrm>
          <a:prstGeom prst="rect">
            <a:avLst/>
          </a:prstGeom>
          <a:noFill/>
          <a:ln/>
        </p:spPr>
        <p:txBody>
          <a:bodyPr wrap="square" lIns="0" tIns="0" rIns="0" bIns="0" rtlCol="0" anchor="t"/>
          <a:lstStyle/>
          <a:p>
            <a:pPr indent="0" marL="0">
              <a:buNone/>
            </a:pPr>
            <a:r>
              <a:rPr lang="en-US" sz="1800" b="1" dirty="0">
                <a:solidFill>
                  <a:srgbClr val="10172A"/>
                </a:solidFill>
                <a:latin typeface="+mj-lt" pitchFamily="34" charset="0"/>
                <a:ea typeface="+mj-lt" pitchFamily="34" charset="-122"/>
                <a:cs typeface="+mj-lt" pitchFamily="34" charset="-120"/>
              </a:rPr>
              <a:t>Mobile app</a:t>
            </a:r>
            <a:endParaRPr lang="en-US" sz="1800" dirty="0"/>
          </a:p>
        </p:txBody>
      </p:sp>
      <p:sp>
        <p:nvSpPr>
          <p:cNvPr id="11" name="Text 7"/>
          <p:cNvSpPr txBox="1"/>
          <p:nvPr/>
        </p:nvSpPr>
        <p:spPr>
          <a:xfrm>
            <a:off x="3886200" y="3154680"/>
            <a:ext cx="2880360" cy="640080"/>
          </a:xfrm>
          <a:prstGeom prst="rect">
            <a:avLst/>
          </a:prstGeom>
          <a:noFill/>
          <a:ln/>
        </p:spPr>
        <p:txBody>
          <a:bodyPr wrap="square" lIns="0" tIns="0" rIns="0" bIns="0" rtlCol="0" anchor="t"/>
          <a:lstStyle/>
          <a:p>
            <a:pPr indent="0" marL="0">
              <a:buNone/>
            </a:pPr>
            <a:r>
              <a:rPr lang="en-US" sz="1400" dirty="0">
                <a:solidFill>
                  <a:srgbClr val="4A5568"/>
                </a:solidFill>
              </a:rPr>
              <a:t>Install Vettri on the phone home screen.</a:t>
            </a:r>
            <a:endParaRPr lang="en-US" sz="1400" dirty="0"/>
          </a:p>
        </p:txBody>
      </p:sp>
      <p:sp>
        <p:nvSpPr>
          <p:cNvPr id="12" name="Employee Reminders tile"/>
          <p:cNvSpPr/>
          <p:nvPr/>
        </p:nvSpPr>
        <p:spPr>
          <a:xfrm>
            <a:off x="685800" y="3886200"/>
            <a:ext cx="594360" cy="594360"/>
          </a:xfrm>
          <a:prstGeom prst="roundRect">
            <a:avLst>
              <a:gd name="adj" fmla="val 18462"/>
            </a:avLst>
          </a:prstGeom>
          <a:solidFill>
            <a:srgbClr val="E8EEFF"/>
          </a:solidFill>
          <a:ln/>
        </p:spPr>
      </p:sp>
      <p:pic>
        <p:nvPicPr>
          <p:cNvPr id="13" name="Image 2" descr="preencoded.png">    </p:cNvPr>
          <p:cNvPicPr>
            <a:picLocks noChangeAspect="1"/>
          </p:cNvPicPr>
          <p:nvPr/>
        </p:nvPicPr>
        <p:blipFill>
          <a:blip r:embed="rId3"/>
          <a:stretch>
            <a:fillRect/>
          </a:stretch>
        </p:blipFill>
        <p:spPr>
          <a:xfrm>
            <a:off x="834390" y="4034790"/>
            <a:ext cx="297180" cy="297180"/>
          </a:xfrm>
          <a:prstGeom prst="rect">
            <a:avLst/>
          </a:prstGeom>
        </p:spPr>
      </p:pic>
      <p:sp>
        <p:nvSpPr>
          <p:cNvPr id="14" name="Text 9"/>
          <p:cNvSpPr txBox="1"/>
          <p:nvPr/>
        </p:nvSpPr>
        <p:spPr>
          <a:xfrm>
            <a:off x="685800" y="4663440"/>
            <a:ext cx="2880360" cy="365760"/>
          </a:xfrm>
          <a:prstGeom prst="rect">
            <a:avLst/>
          </a:prstGeom>
          <a:noFill/>
          <a:ln/>
        </p:spPr>
        <p:txBody>
          <a:bodyPr wrap="square" lIns="0" tIns="0" rIns="0" bIns="0" rtlCol="0" anchor="t"/>
          <a:lstStyle/>
          <a:p>
            <a:pPr indent="0" marL="0">
              <a:buNone/>
            </a:pPr>
            <a:r>
              <a:rPr lang="en-US" sz="1800" b="1" dirty="0">
                <a:solidFill>
                  <a:srgbClr val="10172A"/>
                </a:solidFill>
                <a:latin typeface="+mj-lt" pitchFamily="34" charset="0"/>
                <a:ea typeface="+mj-lt" pitchFamily="34" charset="-122"/>
                <a:cs typeface="+mj-lt" pitchFamily="34" charset="-120"/>
              </a:rPr>
              <a:t>Reminders</a:t>
            </a:r>
            <a:endParaRPr lang="en-US" sz="1800" dirty="0"/>
          </a:p>
        </p:txBody>
      </p:sp>
      <p:sp>
        <p:nvSpPr>
          <p:cNvPr id="15" name="Text 10"/>
          <p:cNvSpPr txBox="1"/>
          <p:nvPr/>
        </p:nvSpPr>
        <p:spPr>
          <a:xfrm>
            <a:off x="685800" y="5074920"/>
            <a:ext cx="2880360" cy="640080"/>
          </a:xfrm>
          <a:prstGeom prst="rect">
            <a:avLst/>
          </a:prstGeom>
          <a:noFill/>
          <a:ln/>
        </p:spPr>
        <p:txBody>
          <a:bodyPr wrap="square" lIns="0" tIns="0" rIns="0" bIns="0" rtlCol="0" anchor="t"/>
          <a:lstStyle/>
          <a:p>
            <a:pPr indent="0" marL="0">
              <a:buNone/>
            </a:pPr>
            <a:r>
              <a:rPr lang="en-US" sz="1400" dirty="0">
                <a:solidFill>
                  <a:srgbClr val="4A5568"/>
                </a:solidFill>
              </a:rPr>
              <a:t>Clock-in and clock-out nudges on the laptop.</a:t>
            </a:r>
            <a:endParaRPr lang="en-US" sz="1400" dirty="0"/>
          </a:p>
        </p:txBody>
      </p:sp>
      <p:sp>
        <p:nvSpPr>
          <p:cNvPr id="16" name="Employee Alerts tile"/>
          <p:cNvSpPr/>
          <p:nvPr/>
        </p:nvSpPr>
        <p:spPr>
          <a:xfrm>
            <a:off x="3886200" y="3886200"/>
            <a:ext cx="594360" cy="594360"/>
          </a:xfrm>
          <a:prstGeom prst="roundRect">
            <a:avLst>
              <a:gd name="adj" fmla="val 18462"/>
            </a:avLst>
          </a:prstGeom>
          <a:solidFill>
            <a:srgbClr val="E8EEFF"/>
          </a:solidFill>
          <a:ln/>
        </p:spPr>
      </p:sp>
      <p:pic>
        <p:nvPicPr>
          <p:cNvPr id="17" name="Image 3" descr="preencoded.png">    </p:cNvPr>
          <p:cNvPicPr>
            <a:picLocks noChangeAspect="1"/>
          </p:cNvPicPr>
          <p:nvPr/>
        </p:nvPicPr>
        <p:blipFill>
          <a:blip r:embed="rId4"/>
          <a:stretch>
            <a:fillRect/>
          </a:stretch>
        </p:blipFill>
        <p:spPr>
          <a:xfrm>
            <a:off x="4034790" y="4034790"/>
            <a:ext cx="297180" cy="297180"/>
          </a:xfrm>
          <a:prstGeom prst="rect">
            <a:avLst/>
          </a:prstGeom>
        </p:spPr>
      </p:pic>
      <p:sp>
        <p:nvSpPr>
          <p:cNvPr id="18" name="Text 12"/>
          <p:cNvSpPr txBox="1"/>
          <p:nvPr/>
        </p:nvSpPr>
        <p:spPr>
          <a:xfrm>
            <a:off x="3886200" y="4663440"/>
            <a:ext cx="2880360" cy="365760"/>
          </a:xfrm>
          <a:prstGeom prst="rect">
            <a:avLst/>
          </a:prstGeom>
          <a:noFill/>
          <a:ln/>
        </p:spPr>
        <p:txBody>
          <a:bodyPr wrap="square" lIns="0" tIns="0" rIns="0" bIns="0" rtlCol="0" anchor="t"/>
          <a:lstStyle/>
          <a:p>
            <a:pPr indent="0" marL="0">
              <a:buNone/>
            </a:pPr>
            <a:r>
              <a:rPr lang="en-US" sz="1800" b="1" dirty="0">
                <a:solidFill>
                  <a:srgbClr val="10172A"/>
                </a:solidFill>
                <a:latin typeface="+mj-lt" pitchFamily="34" charset="0"/>
                <a:ea typeface="+mj-lt" pitchFamily="34" charset="-122"/>
                <a:cs typeface="+mj-lt" pitchFamily="34" charset="-120"/>
              </a:rPr>
              <a:t>Alerts</a:t>
            </a:r>
            <a:endParaRPr lang="en-US" sz="1800" dirty="0"/>
          </a:p>
        </p:txBody>
      </p:sp>
      <p:sp>
        <p:nvSpPr>
          <p:cNvPr id="19" name="Text 13"/>
          <p:cNvSpPr txBox="1"/>
          <p:nvPr/>
        </p:nvSpPr>
        <p:spPr>
          <a:xfrm>
            <a:off x="3886200" y="5074920"/>
            <a:ext cx="2880360" cy="640080"/>
          </a:xfrm>
          <a:prstGeom prst="rect">
            <a:avLst/>
          </a:prstGeom>
          <a:noFill/>
          <a:ln/>
        </p:spPr>
        <p:txBody>
          <a:bodyPr wrap="square" lIns="0" tIns="0" rIns="0" bIns="0" rtlCol="0" anchor="t"/>
          <a:lstStyle/>
          <a:p>
            <a:pPr indent="0" marL="0">
              <a:buNone/>
            </a:pPr>
            <a:r>
              <a:rPr lang="en-US" sz="1400" dirty="0">
                <a:solidFill>
                  <a:srgbClr val="4A5568"/>
                </a:solidFill>
              </a:rPr>
              <a:t>Leave approved, payslip ready – by popup, email or WhatsApp.</a:t>
            </a:r>
            <a:endParaRPr lang="en-US" sz="1400" dirty="0"/>
          </a:p>
        </p:txBody>
      </p:sp>
      <p:sp>
        <p:nvSpPr>
          <p:cNvPr id="20" name="Ask Vettri chat"/>
          <p:cNvSpPr/>
          <p:nvPr/>
        </p:nvSpPr>
        <p:spPr>
          <a:xfrm>
            <a:off x="7178040" y="1783080"/>
            <a:ext cx="4327855" cy="3977640"/>
          </a:xfrm>
          <a:prstGeom prst="roundRect">
            <a:avLst>
              <a:gd name="adj" fmla="val 4598"/>
            </a:avLst>
          </a:prstGeom>
          <a:solidFill>
            <a:srgbClr val="10172A"/>
          </a:solidFill>
          <a:ln/>
          <a:effectLst>
            <a:outerShdw sx="100000" sy="100000" kx="0" ky="0" algn="bl" rotWithShape="0" blurRad="254000" dist="76200" dir="5400000">
              <a:srgbClr val="10172A">
                <a:alpha val="25000"/>
              </a:srgbClr>
            </a:outerShdw>
          </a:effectLst>
        </p:spPr>
      </p:sp>
      <p:pic>
        <p:nvPicPr>
          <p:cNvPr id="21" name="Image 4" descr="preencoded.png">    </p:cNvPr>
          <p:cNvPicPr>
            <a:picLocks noChangeAspect="1"/>
          </p:cNvPicPr>
          <p:nvPr/>
        </p:nvPicPr>
        <p:blipFill>
          <a:blip r:embed="rId5"/>
          <a:stretch>
            <a:fillRect/>
          </a:stretch>
        </p:blipFill>
        <p:spPr>
          <a:xfrm>
            <a:off x="7498080" y="2075688"/>
            <a:ext cx="365760" cy="365760"/>
          </a:xfrm>
          <a:prstGeom prst="rect">
            <a:avLst/>
          </a:prstGeom>
        </p:spPr>
      </p:pic>
      <p:sp>
        <p:nvSpPr>
          <p:cNvPr id="22" name="Text 15"/>
          <p:cNvSpPr txBox="1"/>
          <p:nvPr/>
        </p:nvSpPr>
        <p:spPr>
          <a:xfrm>
            <a:off x="8001000" y="2075688"/>
            <a:ext cx="3230575" cy="365760"/>
          </a:xfrm>
          <a:prstGeom prst="rect">
            <a:avLst/>
          </a:prstGeom>
          <a:noFill/>
          <a:ln/>
        </p:spPr>
        <p:txBody>
          <a:bodyPr wrap="square" lIns="0" tIns="0" rIns="0" bIns="0" rtlCol="0" anchor="ctr"/>
          <a:lstStyle/>
          <a:p>
            <a:pPr indent="0" marL="0">
              <a:buNone/>
            </a:pPr>
            <a:r>
              <a:rPr lang="en-US" sz="1600" b="1" dirty="0">
                <a:solidFill>
                  <a:srgbClr val="F6F7FB"/>
                </a:solidFill>
                <a:latin typeface="+mj-lt" pitchFamily="34" charset="0"/>
                <a:ea typeface="+mj-lt" pitchFamily="34" charset="-122"/>
                <a:cs typeface="+mj-lt" pitchFamily="34" charset="-120"/>
              </a:rPr>
              <a:t>Ask Vettri · AI assistant</a:t>
            </a:r>
            <a:endParaRPr lang="en-US" sz="1600" dirty="0"/>
          </a:p>
        </p:txBody>
      </p:sp>
      <p:sp>
        <p:nvSpPr>
          <p:cNvPr id="23" name="Question 1"/>
          <p:cNvSpPr/>
          <p:nvPr/>
        </p:nvSpPr>
        <p:spPr>
          <a:xfrm>
            <a:off x="8351215" y="2697480"/>
            <a:ext cx="2834640" cy="548640"/>
          </a:xfrm>
          <a:prstGeom prst="roundRect">
            <a:avLst>
              <a:gd name="adj" fmla="val 26667"/>
            </a:avLst>
          </a:prstGeom>
          <a:solidFill>
            <a:srgbClr val="4169E1"/>
          </a:solidFill>
          <a:ln/>
        </p:spPr>
      </p:sp>
      <p:sp>
        <p:nvSpPr>
          <p:cNvPr id="24" name="Text 17"/>
          <p:cNvSpPr txBox="1"/>
          <p:nvPr/>
        </p:nvSpPr>
        <p:spPr>
          <a:xfrm>
            <a:off x="8534095" y="2697480"/>
            <a:ext cx="2468880" cy="548640"/>
          </a:xfrm>
          <a:prstGeom prst="rect">
            <a:avLst/>
          </a:prstGeom>
          <a:noFill/>
          <a:ln/>
        </p:spPr>
        <p:txBody>
          <a:bodyPr wrap="square" lIns="0" tIns="0" rIns="0" bIns="0" rtlCol="0" anchor="ctr"/>
          <a:lstStyle/>
          <a:p>
            <a:pPr indent="0" marL="0">
              <a:buNone/>
            </a:pPr>
            <a:r>
              <a:rPr lang="en-US" sz="1400" dirty="0">
                <a:solidFill>
                  <a:srgbClr val="FFFFFF"/>
                </a:solidFill>
              </a:rPr>
              <a:t>How many leaves do I have left?</a:t>
            </a:r>
            <a:endParaRPr lang="en-US" sz="1400" dirty="0"/>
          </a:p>
        </p:txBody>
      </p:sp>
      <p:sp>
        <p:nvSpPr>
          <p:cNvPr id="25" name="Answer 1"/>
          <p:cNvSpPr/>
          <p:nvPr/>
        </p:nvSpPr>
        <p:spPr>
          <a:xfrm>
            <a:off x="7498080" y="3474720"/>
            <a:ext cx="3200400" cy="777240"/>
          </a:xfrm>
          <a:prstGeom prst="roundRect">
            <a:avLst>
              <a:gd name="adj" fmla="val 18824"/>
            </a:avLst>
          </a:prstGeom>
          <a:solidFill>
            <a:srgbClr val="22305F"/>
          </a:solidFill>
          <a:ln/>
        </p:spPr>
      </p:sp>
      <p:sp>
        <p:nvSpPr>
          <p:cNvPr id="26" name="Text 19"/>
          <p:cNvSpPr txBox="1"/>
          <p:nvPr/>
        </p:nvSpPr>
        <p:spPr>
          <a:xfrm>
            <a:off x="7680960" y="3474720"/>
            <a:ext cx="2834640" cy="777240"/>
          </a:xfrm>
          <a:prstGeom prst="rect">
            <a:avLst/>
          </a:prstGeom>
          <a:noFill/>
          <a:ln/>
        </p:spPr>
        <p:txBody>
          <a:bodyPr wrap="square" lIns="0" tIns="0" rIns="0" bIns="0" rtlCol="0" anchor="ctr"/>
          <a:lstStyle/>
          <a:p>
            <a:pPr indent="0" marL="0">
              <a:buNone/>
            </a:pPr>
            <a:r>
              <a:rPr lang="en-US" sz="1400" dirty="0">
                <a:solidFill>
                  <a:srgbClr val="E6EAF7"/>
                </a:solidFill>
              </a:rPr>
              <a:t>You have </a:t>
            </a:r>
            <a:pPr indent="0" marL="0">
              <a:buNone/>
            </a:pPr>
            <a:r>
              <a:rPr lang="en-US" sz="1400" b="1" dirty="0">
                <a:solidFill>
                  <a:srgbClr val="E6EAF7"/>
                </a:solidFill>
              </a:rPr>
              <a:t>8 casual</a:t>
            </a:r>
            <a:pPr indent="0" marL="0">
              <a:buNone/>
            </a:pPr>
            <a:r>
              <a:rPr lang="en-US" sz="1400" dirty="0">
                <a:solidFill>
                  <a:srgbClr val="E6EAF7"/>
                </a:solidFill>
              </a:rPr>
              <a:t> and </a:t>
            </a:r>
            <a:pPr indent="0" marL="0">
              <a:buNone/>
            </a:pPr>
            <a:r>
              <a:rPr lang="en-US" sz="1400" b="1" dirty="0">
                <a:solidFill>
                  <a:srgbClr val="E6EAF7"/>
                </a:solidFill>
              </a:rPr>
              <a:t>5 sick</a:t>
            </a:r>
            <a:pPr indent="0" marL="0">
              <a:buNone/>
            </a:pPr>
            <a:r>
              <a:rPr lang="en-US" sz="1400" dirty="0">
                <a:solidFill>
                  <a:srgbClr val="E6EAF7"/>
                </a:solidFill>
              </a:rPr>
              <a:t> leaves left this year.</a:t>
            </a:r>
            <a:endParaRPr lang="en-US" sz="1400" dirty="0"/>
          </a:p>
        </p:txBody>
      </p:sp>
      <p:sp>
        <p:nvSpPr>
          <p:cNvPr id="27" name="Question 2"/>
          <p:cNvSpPr/>
          <p:nvPr/>
        </p:nvSpPr>
        <p:spPr>
          <a:xfrm>
            <a:off x="8716975" y="4480560"/>
            <a:ext cx="2468880" cy="548640"/>
          </a:xfrm>
          <a:prstGeom prst="roundRect">
            <a:avLst>
              <a:gd name="adj" fmla="val 26667"/>
            </a:avLst>
          </a:prstGeom>
          <a:solidFill>
            <a:srgbClr val="4169E1"/>
          </a:solidFill>
          <a:ln/>
        </p:spPr>
      </p:sp>
      <p:sp>
        <p:nvSpPr>
          <p:cNvPr id="28" name="Text 21"/>
          <p:cNvSpPr txBox="1"/>
          <p:nvPr/>
        </p:nvSpPr>
        <p:spPr>
          <a:xfrm>
            <a:off x="8899855" y="4480560"/>
            <a:ext cx="2103120" cy="548640"/>
          </a:xfrm>
          <a:prstGeom prst="rect">
            <a:avLst/>
          </a:prstGeom>
          <a:noFill/>
          <a:ln/>
        </p:spPr>
        <p:txBody>
          <a:bodyPr wrap="square" lIns="0" tIns="0" rIns="0" bIns="0" rtlCol="0" anchor="ctr"/>
          <a:lstStyle/>
          <a:p>
            <a:pPr indent="0" marL="0">
              <a:buNone/>
            </a:pPr>
            <a:r>
              <a:rPr lang="en-US" sz="1400" dirty="0">
                <a:solidFill>
                  <a:srgbClr val="FFFFFF"/>
                </a:solidFill>
              </a:rPr>
              <a:t>When is the next holiday?</a:t>
            </a:r>
            <a:endParaRPr lang="en-US" sz="1400" dirty="0"/>
          </a:p>
        </p:txBody>
      </p:sp>
      <p:sp>
        <p:nvSpPr>
          <p:cNvPr id="29" name="Text 22"/>
          <p:cNvSpPr txBox="1"/>
          <p:nvPr/>
        </p:nvSpPr>
        <p:spPr>
          <a:xfrm>
            <a:off x="7498080" y="5303520"/>
            <a:ext cx="3687775" cy="274320"/>
          </a:xfrm>
          <a:prstGeom prst="rect">
            <a:avLst/>
          </a:prstGeom>
          <a:noFill/>
          <a:ln/>
        </p:spPr>
        <p:txBody>
          <a:bodyPr wrap="square" lIns="0" tIns="0" rIns="0" bIns="0" rtlCol="0" anchor="t"/>
          <a:lstStyle/>
          <a:p>
            <a:pPr indent="0" marL="0">
              <a:buNone/>
            </a:pPr>
            <a:r>
              <a:rPr lang="en-US" sz="1100" dirty="0">
                <a:solidFill>
                  <a:srgbClr val="8A94B3"/>
                </a:solidFill>
              </a:rPr>
              <a:t>Example conversation</a:t>
            </a:r>
            <a:endParaRPr lang="en-US" sz="11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3457C9"/>
                </a:solidFill>
              </a:rPr>
              <a:t>INSIGHTS</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10172A"/>
                </a:solidFill>
                <a:latin typeface="Century Gothic" pitchFamily="34" charset="0"/>
                <a:ea typeface="Century Gothic" pitchFamily="34" charset="-122"/>
                <a:cs typeface="Century Gothic" pitchFamily="34" charset="-120"/>
              </a:rPr>
              <a:t>Clear numbers for owners and HR</a:t>
            </a:r>
            <a:endParaRPr lang="en-US" sz="3200" dirty="0"/>
          </a:p>
        </p:txBody>
      </p:sp>
      <p:pic>
        <p:nvPicPr>
          <p:cNvPr id="4" name="Image 0" descr="preencoded.png">    </p:cNvPr>
          <p:cNvPicPr>
            <a:picLocks noChangeAspect="1"/>
          </p:cNvPicPr>
          <p:nvPr/>
        </p:nvPicPr>
        <p:blipFill>
          <a:blip r:embed="rId1"/>
          <a:stretch>
            <a:fillRect/>
          </a:stretch>
        </p:blipFill>
        <p:spPr>
          <a:xfrm>
            <a:off x="685800" y="2011680"/>
            <a:ext cx="411480" cy="411480"/>
          </a:xfrm>
          <a:prstGeom prst="rect">
            <a:avLst/>
          </a:prstGeom>
        </p:spPr>
      </p:pic>
      <p:sp>
        <p:nvSpPr>
          <p:cNvPr id="5" name="Text 2"/>
          <p:cNvSpPr txBox="1"/>
          <p:nvPr/>
        </p:nvSpPr>
        <p:spPr>
          <a:xfrm>
            <a:off x="1325880" y="1965960"/>
            <a:ext cx="3840480" cy="365760"/>
          </a:xfrm>
          <a:prstGeom prst="rect">
            <a:avLst/>
          </a:prstGeom>
          <a:noFill/>
          <a:ln/>
        </p:spPr>
        <p:txBody>
          <a:bodyPr wrap="square" lIns="0" tIns="0" rIns="0" bIns="0" rtlCol="0" anchor="t"/>
          <a:lstStyle/>
          <a:p>
            <a:pPr indent="0" marL="0">
              <a:buNone/>
            </a:pPr>
            <a:r>
              <a:rPr lang="en-US" sz="1800" b="1" dirty="0">
                <a:solidFill>
                  <a:srgbClr val="10172A"/>
                </a:solidFill>
                <a:latin typeface="+mj-lt" pitchFamily="34" charset="0"/>
                <a:ea typeface="+mj-lt" pitchFamily="34" charset="-122"/>
                <a:cs typeface="+mj-lt" pitchFamily="34" charset="-120"/>
              </a:rPr>
              <a:t>Executive dashboard</a:t>
            </a:r>
            <a:endParaRPr lang="en-US" sz="1800" dirty="0"/>
          </a:p>
        </p:txBody>
      </p:sp>
      <p:sp>
        <p:nvSpPr>
          <p:cNvPr id="6" name="Text 3"/>
          <p:cNvSpPr txBox="1"/>
          <p:nvPr/>
        </p:nvSpPr>
        <p:spPr>
          <a:xfrm>
            <a:off x="1325880" y="2377440"/>
            <a:ext cx="3840480" cy="548640"/>
          </a:xfrm>
          <a:prstGeom prst="rect">
            <a:avLst/>
          </a:prstGeom>
          <a:noFill/>
          <a:ln/>
        </p:spPr>
        <p:txBody>
          <a:bodyPr wrap="square" lIns="0" tIns="0" rIns="0" bIns="0" rtlCol="0" anchor="t"/>
          <a:lstStyle/>
          <a:p>
            <a:pPr indent="0" marL="0">
              <a:buNone/>
            </a:pPr>
            <a:r>
              <a:rPr lang="en-US" sz="1400" dirty="0">
                <a:solidFill>
                  <a:srgbClr val="4A5568"/>
                </a:solidFill>
              </a:rPr>
              <a:t>Headcount, attendance and payroll at a glance.</a:t>
            </a:r>
            <a:endParaRPr lang="en-US" sz="1400" dirty="0"/>
          </a:p>
        </p:txBody>
      </p:sp>
      <p:pic>
        <p:nvPicPr>
          <p:cNvPr id="7" name="Image 1" descr="preencoded.png">    </p:cNvPr>
          <p:cNvPicPr>
            <a:picLocks noChangeAspect="1"/>
          </p:cNvPicPr>
          <p:nvPr/>
        </p:nvPicPr>
        <p:blipFill>
          <a:blip r:embed="rId2"/>
          <a:stretch>
            <a:fillRect/>
          </a:stretch>
        </p:blipFill>
        <p:spPr>
          <a:xfrm>
            <a:off x="685800" y="3200400"/>
            <a:ext cx="411480" cy="411480"/>
          </a:xfrm>
          <a:prstGeom prst="rect">
            <a:avLst/>
          </a:prstGeom>
        </p:spPr>
      </p:pic>
      <p:sp>
        <p:nvSpPr>
          <p:cNvPr id="8" name="Text 4"/>
          <p:cNvSpPr txBox="1"/>
          <p:nvPr/>
        </p:nvSpPr>
        <p:spPr>
          <a:xfrm>
            <a:off x="1325880" y="3154680"/>
            <a:ext cx="3840480" cy="365760"/>
          </a:xfrm>
          <a:prstGeom prst="rect">
            <a:avLst/>
          </a:prstGeom>
          <a:noFill/>
          <a:ln/>
        </p:spPr>
        <p:txBody>
          <a:bodyPr wrap="square" lIns="0" tIns="0" rIns="0" bIns="0" rtlCol="0" anchor="t"/>
          <a:lstStyle/>
          <a:p>
            <a:pPr indent="0" marL="0">
              <a:buNone/>
            </a:pPr>
            <a:r>
              <a:rPr lang="en-US" sz="1800" b="1" dirty="0">
                <a:solidFill>
                  <a:srgbClr val="10172A"/>
                </a:solidFill>
                <a:latin typeface="+mj-lt" pitchFamily="34" charset="0"/>
                <a:ea typeface="+mj-lt" pitchFamily="34" charset="-122"/>
                <a:cs typeface="+mj-lt" pitchFamily="34" charset="-120"/>
              </a:rPr>
              <a:t>Productivity reports</a:t>
            </a:r>
            <a:endParaRPr lang="en-US" sz="1800" dirty="0"/>
          </a:p>
        </p:txBody>
      </p:sp>
      <p:sp>
        <p:nvSpPr>
          <p:cNvPr id="9" name="Text 5"/>
          <p:cNvSpPr txBox="1"/>
          <p:nvPr/>
        </p:nvSpPr>
        <p:spPr>
          <a:xfrm>
            <a:off x="1325880" y="3566160"/>
            <a:ext cx="3840480" cy="548640"/>
          </a:xfrm>
          <a:prstGeom prst="rect">
            <a:avLst/>
          </a:prstGeom>
          <a:noFill/>
          <a:ln/>
        </p:spPr>
        <p:txBody>
          <a:bodyPr wrap="square" lIns="0" tIns="0" rIns="0" bIns="0" rtlCol="0" anchor="t"/>
          <a:lstStyle/>
          <a:p>
            <a:pPr indent="0" marL="0">
              <a:buNone/>
            </a:pPr>
            <a:r>
              <a:rPr lang="en-US" sz="1400" dirty="0">
                <a:solidFill>
                  <a:srgbClr val="4A5568"/>
                </a:solidFill>
              </a:rPr>
              <a:t>Active and idle time, and top apps per day.</a:t>
            </a:r>
            <a:endParaRPr lang="en-US" sz="1400" dirty="0"/>
          </a:p>
        </p:txBody>
      </p:sp>
      <p:pic>
        <p:nvPicPr>
          <p:cNvPr id="10" name="Image 2" descr="preencoded.png">    </p:cNvPr>
          <p:cNvPicPr>
            <a:picLocks noChangeAspect="1"/>
          </p:cNvPicPr>
          <p:nvPr/>
        </p:nvPicPr>
        <p:blipFill>
          <a:blip r:embed="rId3"/>
          <a:stretch>
            <a:fillRect/>
          </a:stretch>
        </p:blipFill>
        <p:spPr>
          <a:xfrm>
            <a:off x="685800" y="4389120"/>
            <a:ext cx="411480" cy="411480"/>
          </a:xfrm>
          <a:prstGeom prst="rect">
            <a:avLst/>
          </a:prstGeom>
        </p:spPr>
      </p:pic>
      <p:sp>
        <p:nvSpPr>
          <p:cNvPr id="11" name="Text 6"/>
          <p:cNvSpPr txBox="1"/>
          <p:nvPr/>
        </p:nvSpPr>
        <p:spPr>
          <a:xfrm>
            <a:off x="1325880" y="4343400"/>
            <a:ext cx="3840480" cy="365760"/>
          </a:xfrm>
          <a:prstGeom prst="rect">
            <a:avLst/>
          </a:prstGeom>
          <a:noFill/>
          <a:ln/>
        </p:spPr>
        <p:txBody>
          <a:bodyPr wrap="square" lIns="0" tIns="0" rIns="0" bIns="0" rtlCol="0" anchor="t"/>
          <a:lstStyle/>
          <a:p>
            <a:pPr indent="0" marL="0">
              <a:buNone/>
            </a:pPr>
            <a:r>
              <a:rPr lang="en-US" sz="1800" b="1" dirty="0">
                <a:solidFill>
                  <a:srgbClr val="10172A"/>
                </a:solidFill>
                <a:latin typeface="+mj-lt" pitchFamily="34" charset="0"/>
                <a:ea typeface="+mj-lt" pitchFamily="34" charset="-122"/>
                <a:cs typeface="+mj-lt" pitchFamily="34" charset="-120"/>
              </a:rPr>
              <a:t>Export anything</a:t>
            </a:r>
            <a:endParaRPr lang="en-US" sz="1800" dirty="0"/>
          </a:p>
        </p:txBody>
      </p:sp>
      <p:sp>
        <p:nvSpPr>
          <p:cNvPr id="12" name="Text 7"/>
          <p:cNvSpPr txBox="1"/>
          <p:nvPr/>
        </p:nvSpPr>
        <p:spPr>
          <a:xfrm>
            <a:off x="1325880" y="4754880"/>
            <a:ext cx="3840480" cy="548640"/>
          </a:xfrm>
          <a:prstGeom prst="rect">
            <a:avLst/>
          </a:prstGeom>
          <a:noFill/>
          <a:ln/>
        </p:spPr>
        <p:txBody>
          <a:bodyPr wrap="square" lIns="0" tIns="0" rIns="0" bIns="0" rtlCol="0" anchor="t"/>
          <a:lstStyle/>
          <a:p>
            <a:pPr indent="0" marL="0">
              <a:buNone/>
            </a:pPr>
            <a:r>
              <a:rPr lang="en-US" sz="1400" dirty="0">
                <a:solidFill>
                  <a:srgbClr val="4A5568"/>
                </a:solidFill>
              </a:rPr>
              <a:t>Download reports to Excel or PDF.</a:t>
            </a:r>
            <a:endParaRPr lang="en-US" sz="1400" dirty="0"/>
          </a:p>
        </p:txBody>
      </p:sp>
      <p:sp>
        <p:nvSpPr>
          <p:cNvPr id="13" name="Activity vs attendance"/>
          <p:cNvSpPr/>
          <p:nvPr/>
        </p:nvSpPr>
        <p:spPr>
          <a:xfrm>
            <a:off x="5486400" y="1783080"/>
            <a:ext cx="6019495" cy="3977640"/>
          </a:xfrm>
          <a:prstGeom prst="roundRect">
            <a:avLst>
              <a:gd name="adj" fmla="val 3678"/>
            </a:avLst>
          </a:prstGeom>
          <a:solidFill>
            <a:srgbClr val="FFFFFF"/>
          </a:solidFill>
          <a:ln w="9525">
            <a:solidFill>
              <a:srgbClr val="E1E5F0"/>
            </a:solidFill>
            <a:prstDash val="solid"/>
          </a:ln>
          <a:effectLst>
            <a:outerShdw sx="100000" sy="100000" kx="0" ky="0" algn="bl" rotWithShape="0" blurRad="127000" dist="38100" dir="5400000">
              <a:srgbClr val="10172A">
                <a:alpha val="8000"/>
              </a:srgbClr>
            </a:outerShdw>
          </a:effectLst>
        </p:spPr>
      </p:sp>
      <p:sp>
        <p:nvSpPr>
          <p:cNvPr id="14" name="Text 9"/>
          <p:cNvSpPr txBox="1"/>
          <p:nvPr/>
        </p:nvSpPr>
        <p:spPr>
          <a:xfrm>
            <a:off x="5852160" y="2103120"/>
            <a:ext cx="5287975" cy="365760"/>
          </a:xfrm>
          <a:prstGeom prst="rect">
            <a:avLst/>
          </a:prstGeom>
          <a:noFill/>
          <a:ln/>
        </p:spPr>
        <p:txBody>
          <a:bodyPr wrap="square" lIns="0" tIns="0" rIns="0" bIns="0" rtlCol="0" anchor="t"/>
          <a:lstStyle/>
          <a:p>
            <a:pPr indent="0" marL="0">
              <a:buNone/>
            </a:pPr>
            <a:r>
              <a:rPr lang="en-US" sz="1700" b="1" dirty="0">
                <a:solidFill>
                  <a:srgbClr val="10172A"/>
                </a:solidFill>
                <a:latin typeface="+mj-lt" pitchFamily="34" charset="0"/>
                <a:ea typeface="+mj-lt" pitchFamily="34" charset="-122"/>
                <a:cs typeface="+mj-lt" pitchFamily="34" charset="-120"/>
              </a:rPr>
              <a:t>Laptop activity vs attendance</a:t>
            </a:r>
            <a:endParaRPr lang="en-US" sz="1700" dirty="0"/>
          </a:p>
        </p:txBody>
      </p:sp>
      <p:graphicFrame>
        <p:nvGraphicFramePr>
          <p:cNvPr id="11" name="Example report table"/>
          <p:cNvGraphicFramePr>
            <a:graphicFrameLocks noGrp="1"/>
          </p:cNvGraphicFramePr>
          <p:nvPr>
            <p:extLst>
              <p:ext uri="{D42A27DB-BD31-4B8C-83A1-F6EECF244321}">
                <p14:modId xmlns:p14="http://schemas.microsoft.com/office/powerpoint/2010/main" val="1579011935"/>
              </p:ext>
            </p:extLst>
          </p:nvPr>
        </p:nvGraphicFramePr>
        <p:xfrm>
          <a:off x="5852160" y="2651760"/>
          <a:ext cx="5287975" cy="914400"/>
        </p:xfrm>
        <a:graphic>
          <a:graphicData uri="http://schemas.openxmlformats.org/drawingml/2006/table">
            <a:tbl>
              <a:tblPr/>
              <a:tblGrid>
                <a:gridCol w="1639272"/>
                <a:gridCol w="1110475"/>
                <a:gridCol w="1110475"/>
                <a:gridCol w="1427753"/>
              </a:tblGrid>
              <a:tr h="457200">
                <a:tc>
                  <a:txBody>
                    <a:bodyPr/>
                    <a:lstStyle/>
                    <a:p>
                      <a:pPr algn="l" indent="0" marL="0">
                        <a:buNone/>
                      </a:pPr>
                      <a:r>
                        <a:rPr lang="en-US" sz="1400" b="1" dirty="0">
                          <a:solidFill>
                            <a:srgbClr val="10172A"/>
                          </a:solidFill>
                        </a:rPr>
                        <a:t>Employee</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solidFill>
                      <a:srgbClr val="F6F7FB"/>
                    </a:solidFill>
                  </a:tcPr>
                </a:tc>
                <a:tc>
                  <a:txBody>
                    <a:bodyPr/>
                    <a:lstStyle/>
                    <a:p>
                      <a:pPr algn="ctr" indent="0" marL="0">
                        <a:buNone/>
                      </a:pPr>
                      <a:r>
                        <a:rPr lang="en-US" sz="1400" b="1" dirty="0">
                          <a:solidFill>
                            <a:srgbClr val="10172A"/>
                          </a:solidFill>
                        </a:rPr>
                        <a:t>Active</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solidFill>
                      <a:srgbClr val="F6F7FB"/>
                    </a:solidFill>
                  </a:tcPr>
                </a:tc>
                <a:tc>
                  <a:txBody>
                    <a:bodyPr/>
                    <a:lstStyle/>
                    <a:p>
                      <a:pPr algn="ctr" indent="0" marL="0">
                        <a:buNone/>
                      </a:pPr>
                      <a:r>
                        <a:rPr lang="en-US" sz="1400" b="1" dirty="0">
                          <a:solidFill>
                            <a:srgbClr val="10172A"/>
                          </a:solidFill>
                        </a:rPr>
                        <a:t>Punched</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solidFill>
                      <a:srgbClr val="F6F7FB"/>
                    </a:solidFill>
                  </a:tcPr>
                </a:tc>
                <a:tc>
                  <a:txBody>
                    <a:bodyPr/>
                    <a:lstStyle/>
                    <a:p>
                      <a:pPr algn="ctr" indent="0" marL="0">
                        <a:buNone/>
                      </a:pPr>
                      <a:r>
                        <a:rPr lang="en-US" sz="1400" b="1" dirty="0">
                          <a:solidFill>
                            <a:srgbClr val="10172A"/>
                          </a:solidFill>
                        </a:rPr>
                        <a:t>Check</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solidFill>
                      <a:srgbClr val="F6F7FB"/>
                    </a:solidFill>
                  </a:tcPr>
                </a:tc>
              </a:tr>
              <a:tr h="457200">
                <a:tc>
                  <a:txBody>
                    <a:bodyPr/>
                    <a:lstStyle/>
                    <a:p>
                      <a:pPr algn="l" indent="0" marL="0">
                        <a:buNone/>
                      </a:pPr>
                      <a:r>
                        <a:rPr lang="en-US" sz="1400" dirty="0">
                          <a:solidFill>
                            <a:srgbClr val="10172A"/>
                          </a:solidFill>
                        </a:rPr>
                        <a:t>Priya S.</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dirty="0">
                          <a:solidFill>
                            <a:srgbClr val="10172A"/>
                          </a:solidFill>
                        </a:rPr>
                        <a:t>7h 40m</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dirty="0">
                          <a:solidFill>
                            <a:srgbClr val="10172A"/>
                          </a:solidFill>
                        </a:rPr>
                        <a:t>8h 30m</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b="1" dirty="0">
                          <a:solidFill>
                            <a:srgbClr val="12735A"/>
                          </a:solidFill>
                        </a:rPr>
                        <a:t>Matches</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r>
              <a:tr h="457200">
                <a:tc>
                  <a:txBody>
                    <a:bodyPr/>
                    <a:lstStyle/>
                    <a:p>
                      <a:pPr algn="l" indent="0" marL="0">
                        <a:buNone/>
                      </a:pPr>
                      <a:r>
                        <a:rPr lang="en-US" sz="1400" dirty="0">
                          <a:solidFill>
                            <a:srgbClr val="10172A"/>
                          </a:solidFill>
                        </a:rPr>
                        <a:t>Arun K.</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dirty="0">
                          <a:solidFill>
                            <a:srgbClr val="10172A"/>
                          </a:solidFill>
                        </a:rPr>
                        <a:t>6h 05m</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dirty="0">
                          <a:solidFill>
                            <a:srgbClr val="10172A"/>
                          </a:solidFill>
                        </a:rPr>
                        <a:t>–</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b="1" dirty="0">
                          <a:solidFill>
                            <a:srgbClr val="9A6519"/>
                          </a:solidFill>
                        </a:rPr>
                        <a:t>No punch</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r>
              <a:tr h="457200">
                <a:tc>
                  <a:txBody>
                    <a:bodyPr/>
                    <a:lstStyle/>
                    <a:p>
                      <a:pPr algn="l" indent="0" marL="0">
                        <a:buNone/>
                      </a:pPr>
                      <a:r>
                        <a:rPr lang="en-US" sz="1400" dirty="0">
                          <a:solidFill>
                            <a:srgbClr val="10172A"/>
                          </a:solidFill>
                        </a:rPr>
                        <a:t>Meena R.</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dirty="0">
                          <a:solidFill>
                            <a:srgbClr val="10172A"/>
                          </a:solidFill>
                        </a:rPr>
                        <a:t>2h 10m</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dirty="0">
                          <a:solidFill>
                            <a:srgbClr val="10172A"/>
                          </a:solidFill>
                        </a:rPr>
                        <a:t>8h 45m</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algn="ctr" indent="0" marL="0">
                        <a:buNone/>
                      </a:pPr>
                      <a:r>
                        <a:rPr lang="en-US" sz="1400" b="1" dirty="0">
                          <a:solidFill>
                            <a:srgbClr val="9A6519"/>
                          </a:solidFill>
                        </a:rPr>
                        <a:t>Low activity</a:t>
                      </a:r>
                      <a:endParaRPr lang="en-US" sz="1400" dirty="0"/>
                    </a:p>
                  </a:txBody>
                  <a:tcPr marL="73152" marR="73152" marT="73152" marB="73152"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r>
            </a:tbl>
          </a:graphicData>
        </a:graphic>
      </p:graphicFrame>
      <p:sp>
        <p:nvSpPr>
          <p:cNvPr id="16" name="Text 10"/>
          <p:cNvSpPr txBox="1"/>
          <p:nvPr/>
        </p:nvSpPr>
        <p:spPr>
          <a:xfrm>
            <a:off x="5852160" y="5029200"/>
            <a:ext cx="5287975" cy="457200"/>
          </a:xfrm>
          <a:prstGeom prst="rect">
            <a:avLst/>
          </a:prstGeom>
          <a:noFill/>
          <a:ln/>
        </p:spPr>
        <p:txBody>
          <a:bodyPr wrap="square" lIns="0" tIns="0" rIns="0" bIns="0" rtlCol="0" anchor="t"/>
          <a:lstStyle/>
          <a:p>
            <a:pPr indent="0" marL="0">
              <a:buNone/>
            </a:pPr>
            <a:r>
              <a:rPr lang="en-US" sz="1200" dirty="0">
                <a:solidFill>
                  <a:srgbClr val="6A7390"/>
                </a:solidFill>
              </a:rPr>
              <a:t>Example data. A hint for HR to review – never an automatic penalty.</a:t>
            </a:r>
            <a:endParaRPr lang="en-US" sz="12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FFB000"/>
                </a:solidFill>
              </a:rPr>
              <a:t>SECURITY &amp; PRIVACY</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F6F7FB"/>
                </a:solidFill>
                <a:latin typeface="Century Gothic" pitchFamily="34" charset="0"/>
                <a:ea typeface="Century Gothic" pitchFamily="34" charset="-122"/>
                <a:cs typeface="Century Gothic" pitchFamily="34" charset="-120"/>
              </a:rPr>
              <a:t>Your data stays safe and private</a:t>
            </a:r>
            <a:endParaRPr lang="en-US" sz="3200" dirty="0"/>
          </a:p>
        </p:txBody>
      </p:sp>
      <p:sp>
        <p:nvSpPr>
          <p:cNvPr id="4" name="Trust Two-step login"/>
          <p:cNvSpPr/>
          <p:nvPr/>
        </p:nvSpPr>
        <p:spPr>
          <a:xfrm>
            <a:off x="685800" y="1920240"/>
            <a:ext cx="3423818" cy="1783080"/>
          </a:xfrm>
          <a:prstGeom prst="roundRect">
            <a:avLst>
              <a:gd name="adj" fmla="val 8205"/>
            </a:avLst>
          </a:prstGeom>
          <a:solidFill>
            <a:srgbClr val="172044"/>
          </a:solidFill>
          <a:ln w="9525">
            <a:solidFill>
              <a:srgbClr val="2E3B6B"/>
            </a:solidFill>
            <a:prstDash val="solid"/>
          </a:ln>
        </p:spPr>
      </p:sp>
      <p:pic>
        <p:nvPicPr>
          <p:cNvPr id="5" name="Image 0" descr="preencoded.png">    </p:cNvPr>
          <p:cNvPicPr>
            <a:picLocks noChangeAspect="1"/>
          </p:cNvPicPr>
          <p:nvPr/>
        </p:nvPicPr>
        <p:blipFill>
          <a:blip r:embed="rId1"/>
          <a:stretch>
            <a:fillRect/>
          </a:stretch>
        </p:blipFill>
        <p:spPr>
          <a:xfrm>
            <a:off x="1005840" y="2212848"/>
            <a:ext cx="411480" cy="411480"/>
          </a:xfrm>
          <a:prstGeom prst="rect">
            <a:avLst/>
          </a:prstGeom>
        </p:spPr>
      </p:pic>
      <p:sp>
        <p:nvSpPr>
          <p:cNvPr id="6" name="Text 3"/>
          <p:cNvSpPr txBox="1"/>
          <p:nvPr/>
        </p:nvSpPr>
        <p:spPr>
          <a:xfrm>
            <a:off x="1005840" y="2743200"/>
            <a:ext cx="2783738" cy="365760"/>
          </a:xfrm>
          <a:prstGeom prst="rect">
            <a:avLst/>
          </a:prstGeom>
          <a:noFill/>
          <a:ln/>
        </p:spPr>
        <p:txBody>
          <a:bodyPr wrap="square" lIns="0" tIns="0" rIns="0" bIns="0" rtlCol="0" anchor="t"/>
          <a:lstStyle/>
          <a:p>
            <a:pPr indent="0" marL="0">
              <a:buNone/>
            </a:pPr>
            <a:r>
              <a:rPr lang="en-US" sz="1700" b="1" dirty="0">
                <a:solidFill>
                  <a:srgbClr val="F6F7FB"/>
                </a:solidFill>
                <a:latin typeface="+mj-lt" pitchFamily="34" charset="0"/>
                <a:ea typeface="+mj-lt" pitchFamily="34" charset="-122"/>
                <a:cs typeface="+mj-lt" pitchFamily="34" charset="-120"/>
              </a:rPr>
              <a:t>Two-step login</a:t>
            </a:r>
            <a:endParaRPr lang="en-US" sz="1700" dirty="0"/>
          </a:p>
        </p:txBody>
      </p:sp>
      <p:sp>
        <p:nvSpPr>
          <p:cNvPr id="7" name="Text 4"/>
          <p:cNvSpPr txBox="1"/>
          <p:nvPr/>
        </p:nvSpPr>
        <p:spPr>
          <a:xfrm>
            <a:off x="1005840" y="3127248"/>
            <a:ext cx="2783738" cy="502920"/>
          </a:xfrm>
          <a:prstGeom prst="rect">
            <a:avLst/>
          </a:prstGeom>
          <a:noFill/>
          <a:ln/>
        </p:spPr>
        <p:txBody>
          <a:bodyPr wrap="square" lIns="0" tIns="0" rIns="0" bIns="0" rtlCol="0" anchor="t"/>
          <a:lstStyle/>
          <a:p>
            <a:pPr indent="0" marL="0">
              <a:buNone/>
            </a:pPr>
            <a:r>
              <a:rPr lang="en-US" sz="1300" dirty="0">
                <a:solidFill>
                  <a:srgbClr val="C3CBE0"/>
                </a:solidFill>
              </a:rPr>
              <a:t>Authenticator app or email code on top of the password.</a:t>
            </a:r>
            <a:endParaRPr lang="en-US" sz="1300" dirty="0"/>
          </a:p>
        </p:txBody>
      </p:sp>
      <p:sp>
        <p:nvSpPr>
          <p:cNvPr id="8" name="Trust Google &amp; Microsoft"/>
          <p:cNvSpPr/>
          <p:nvPr/>
        </p:nvSpPr>
        <p:spPr>
          <a:xfrm>
            <a:off x="4383938" y="1920240"/>
            <a:ext cx="3423818" cy="1783080"/>
          </a:xfrm>
          <a:prstGeom prst="roundRect">
            <a:avLst>
              <a:gd name="adj" fmla="val 8205"/>
            </a:avLst>
          </a:prstGeom>
          <a:solidFill>
            <a:srgbClr val="172044"/>
          </a:solidFill>
          <a:ln w="9525">
            <a:solidFill>
              <a:srgbClr val="2E3B6B"/>
            </a:solidFill>
            <a:prstDash val="solid"/>
          </a:ln>
        </p:spPr>
      </p:sp>
      <p:pic>
        <p:nvPicPr>
          <p:cNvPr id="9" name="Image 1" descr="preencoded.png">    </p:cNvPr>
          <p:cNvPicPr>
            <a:picLocks noChangeAspect="1"/>
          </p:cNvPicPr>
          <p:nvPr/>
        </p:nvPicPr>
        <p:blipFill>
          <a:blip r:embed="rId2"/>
          <a:stretch>
            <a:fillRect/>
          </a:stretch>
        </p:blipFill>
        <p:spPr>
          <a:xfrm>
            <a:off x="4703978" y="2212848"/>
            <a:ext cx="411480" cy="411480"/>
          </a:xfrm>
          <a:prstGeom prst="rect">
            <a:avLst/>
          </a:prstGeom>
        </p:spPr>
      </p:pic>
      <p:sp>
        <p:nvSpPr>
          <p:cNvPr id="10" name="Text 6"/>
          <p:cNvSpPr txBox="1"/>
          <p:nvPr/>
        </p:nvSpPr>
        <p:spPr>
          <a:xfrm>
            <a:off x="4703978" y="2743200"/>
            <a:ext cx="2783738" cy="365760"/>
          </a:xfrm>
          <a:prstGeom prst="rect">
            <a:avLst/>
          </a:prstGeom>
          <a:noFill/>
          <a:ln/>
        </p:spPr>
        <p:txBody>
          <a:bodyPr wrap="square" lIns="0" tIns="0" rIns="0" bIns="0" rtlCol="0" anchor="t"/>
          <a:lstStyle/>
          <a:p>
            <a:pPr indent="0" marL="0">
              <a:buNone/>
            </a:pPr>
            <a:r>
              <a:rPr lang="en-US" sz="1700" b="1" dirty="0">
                <a:solidFill>
                  <a:srgbClr val="F6F7FB"/>
                </a:solidFill>
                <a:latin typeface="+mj-lt" pitchFamily="34" charset="0"/>
                <a:ea typeface="+mj-lt" pitchFamily="34" charset="-122"/>
                <a:cs typeface="+mj-lt" pitchFamily="34" charset="-120"/>
              </a:rPr>
              <a:t>Google &amp; Microsoft</a:t>
            </a:r>
            <a:endParaRPr lang="en-US" sz="1700" dirty="0"/>
          </a:p>
        </p:txBody>
      </p:sp>
      <p:sp>
        <p:nvSpPr>
          <p:cNvPr id="11" name="Text 7"/>
          <p:cNvSpPr txBox="1"/>
          <p:nvPr/>
        </p:nvSpPr>
        <p:spPr>
          <a:xfrm>
            <a:off x="4703978" y="3127248"/>
            <a:ext cx="2783738" cy="502920"/>
          </a:xfrm>
          <a:prstGeom prst="rect">
            <a:avLst/>
          </a:prstGeom>
          <a:noFill/>
          <a:ln/>
        </p:spPr>
        <p:txBody>
          <a:bodyPr wrap="square" lIns="0" tIns="0" rIns="0" bIns="0" rtlCol="0" anchor="t"/>
          <a:lstStyle/>
          <a:p>
            <a:pPr indent="0" marL="0">
              <a:buNone/>
            </a:pPr>
            <a:r>
              <a:rPr lang="en-US" sz="1300" dirty="0">
                <a:solidFill>
                  <a:srgbClr val="C3CBE0"/>
                </a:solidFill>
              </a:rPr>
              <a:t>Sign in with your existing company account.</a:t>
            </a:r>
            <a:endParaRPr lang="en-US" sz="1300" dirty="0"/>
          </a:p>
        </p:txBody>
      </p:sp>
      <p:sp>
        <p:nvSpPr>
          <p:cNvPr id="12" name="Trust Roles &amp; access"/>
          <p:cNvSpPr/>
          <p:nvPr/>
        </p:nvSpPr>
        <p:spPr>
          <a:xfrm>
            <a:off x="8082077" y="1920240"/>
            <a:ext cx="3423818" cy="1783080"/>
          </a:xfrm>
          <a:prstGeom prst="roundRect">
            <a:avLst>
              <a:gd name="adj" fmla="val 8205"/>
            </a:avLst>
          </a:prstGeom>
          <a:solidFill>
            <a:srgbClr val="172044"/>
          </a:solidFill>
          <a:ln w="9525">
            <a:solidFill>
              <a:srgbClr val="2E3B6B"/>
            </a:solidFill>
            <a:prstDash val="solid"/>
          </a:ln>
        </p:spPr>
      </p:sp>
      <p:pic>
        <p:nvPicPr>
          <p:cNvPr id="13" name="Image 2" descr="preencoded.png">    </p:cNvPr>
          <p:cNvPicPr>
            <a:picLocks noChangeAspect="1"/>
          </p:cNvPicPr>
          <p:nvPr/>
        </p:nvPicPr>
        <p:blipFill>
          <a:blip r:embed="rId3"/>
          <a:stretch>
            <a:fillRect/>
          </a:stretch>
        </p:blipFill>
        <p:spPr>
          <a:xfrm>
            <a:off x="8402117" y="2212848"/>
            <a:ext cx="411480" cy="411480"/>
          </a:xfrm>
          <a:prstGeom prst="rect">
            <a:avLst/>
          </a:prstGeom>
        </p:spPr>
      </p:pic>
      <p:sp>
        <p:nvSpPr>
          <p:cNvPr id="14" name="Text 9"/>
          <p:cNvSpPr txBox="1"/>
          <p:nvPr/>
        </p:nvSpPr>
        <p:spPr>
          <a:xfrm>
            <a:off x="8402117" y="2743200"/>
            <a:ext cx="2783738" cy="365760"/>
          </a:xfrm>
          <a:prstGeom prst="rect">
            <a:avLst/>
          </a:prstGeom>
          <a:noFill/>
          <a:ln/>
        </p:spPr>
        <p:txBody>
          <a:bodyPr wrap="square" lIns="0" tIns="0" rIns="0" bIns="0" rtlCol="0" anchor="t"/>
          <a:lstStyle/>
          <a:p>
            <a:pPr indent="0" marL="0">
              <a:buNone/>
            </a:pPr>
            <a:r>
              <a:rPr lang="en-US" sz="1700" b="1" dirty="0">
                <a:solidFill>
                  <a:srgbClr val="F6F7FB"/>
                </a:solidFill>
                <a:latin typeface="+mj-lt" pitchFamily="34" charset="0"/>
                <a:ea typeface="+mj-lt" pitchFamily="34" charset="-122"/>
                <a:cs typeface="+mj-lt" pitchFamily="34" charset="-120"/>
              </a:rPr>
              <a:t>Roles &amp; access</a:t>
            </a:r>
            <a:endParaRPr lang="en-US" sz="1700" dirty="0"/>
          </a:p>
        </p:txBody>
      </p:sp>
      <p:sp>
        <p:nvSpPr>
          <p:cNvPr id="15" name="Text 10"/>
          <p:cNvSpPr txBox="1"/>
          <p:nvPr/>
        </p:nvSpPr>
        <p:spPr>
          <a:xfrm>
            <a:off x="8402117" y="3127248"/>
            <a:ext cx="2783738" cy="502920"/>
          </a:xfrm>
          <a:prstGeom prst="rect">
            <a:avLst/>
          </a:prstGeom>
          <a:noFill/>
          <a:ln/>
        </p:spPr>
        <p:txBody>
          <a:bodyPr wrap="square" lIns="0" tIns="0" rIns="0" bIns="0" rtlCol="0" anchor="t"/>
          <a:lstStyle/>
          <a:p>
            <a:pPr indent="0" marL="0">
              <a:buNone/>
            </a:pPr>
            <a:r>
              <a:rPr lang="en-US" sz="1300" dirty="0">
                <a:solidFill>
                  <a:srgbClr val="C3CBE0"/>
                </a:solidFill>
              </a:rPr>
              <a:t>Each person sees only what their role allows.</a:t>
            </a:r>
            <a:endParaRPr lang="en-US" sz="1300" dirty="0"/>
          </a:p>
        </p:txBody>
      </p:sp>
      <p:sp>
        <p:nvSpPr>
          <p:cNvPr id="16" name="Trust Audit log"/>
          <p:cNvSpPr/>
          <p:nvPr/>
        </p:nvSpPr>
        <p:spPr>
          <a:xfrm>
            <a:off x="685800" y="3977640"/>
            <a:ext cx="3423818" cy="1783080"/>
          </a:xfrm>
          <a:prstGeom prst="roundRect">
            <a:avLst>
              <a:gd name="adj" fmla="val 8205"/>
            </a:avLst>
          </a:prstGeom>
          <a:solidFill>
            <a:srgbClr val="172044"/>
          </a:solidFill>
          <a:ln w="9525">
            <a:solidFill>
              <a:srgbClr val="2E3B6B"/>
            </a:solidFill>
            <a:prstDash val="solid"/>
          </a:ln>
        </p:spPr>
      </p:sp>
      <p:pic>
        <p:nvPicPr>
          <p:cNvPr id="17" name="Image 3" descr="preencoded.png">    </p:cNvPr>
          <p:cNvPicPr>
            <a:picLocks noChangeAspect="1"/>
          </p:cNvPicPr>
          <p:nvPr/>
        </p:nvPicPr>
        <p:blipFill>
          <a:blip r:embed="rId4"/>
          <a:stretch>
            <a:fillRect/>
          </a:stretch>
        </p:blipFill>
        <p:spPr>
          <a:xfrm>
            <a:off x="1005840" y="4270248"/>
            <a:ext cx="411480" cy="411480"/>
          </a:xfrm>
          <a:prstGeom prst="rect">
            <a:avLst/>
          </a:prstGeom>
        </p:spPr>
      </p:pic>
      <p:sp>
        <p:nvSpPr>
          <p:cNvPr id="18" name="Text 12"/>
          <p:cNvSpPr txBox="1"/>
          <p:nvPr/>
        </p:nvSpPr>
        <p:spPr>
          <a:xfrm>
            <a:off x="1005840" y="4800600"/>
            <a:ext cx="2783738" cy="365760"/>
          </a:xfrm>
          <a:prstGeom prst="rect">
            <a:avLst/>
          </a:prstGeom>
          <a:noFill/>
          <a:ln/>
        </p:spPr>
        <p:txBody>
          <a:bodyPr wrap="square" lIns="0" tIns="0" rIns="0" bIns="0" rtlCol="0" anchor="t"/>
          <a:lstStyle/>
          <a:p>
            <a:pPr indent="0" marL="0">
              <a:buNone/>
            </a:pPr>
            <a:r>
              <a:rPr lang="en-US" sz="1700" b="1" dirty="0">
                <a:solidFill>
                  <a:srgbClr val="F6F7FB"/>
                </a:solidFill>
                <a:latin typeface="+mj-lt" pitchFamily="34" charset="0"/>
                <a:ea typeface="+mj-lt" pitchFamily="34" charset="-122"/>
                <a:cs typeface="+mj-lt" pitchFamily="34" charset="-120"/>
              </a:rPr>
              <a:t>Audit log</a:t>
            </a:r>
            <a:endParaRPr lang="en-US" sz="1700" dirty="0"/>
          </a:p>
        </p:txBody>
      </p:sp>
      <p:sp>
        <p:nvSpPr>
          <p:cNvPr id="19" name="Text 13"/>
          <p:cNvSpPr txBox="1"/>
          <p:nvPr/>
        </p:nvSpPr>
        <p:spPr>
          <a:xfrm>
            <a:off x="1005840" y="5184648"/>
            <a:ext cx="2783738" cy="502920"/>
          </a:xfrm>
          <a:prstGeom prst="rect">
            <a:avLst/>
          </a:prstGeom>
          <a:noFill/>
          <a:ln/>
        </p:spPr>
        <p:txBody>
          <a:bodyPr wrap="square" lIns="0" tIns="0" rIns="0" bIns="0" rtlCol="0" anchor="t"/>
          <a:lstStyle/>
          <a:p>
            <a:pPr indent="0" marL="0">
              <a:buNone/>
            </a:pPr>
            <a:r>
              <a:rPr lang="en-US" sz="1300" dirty="0">
                <a:solidFill>
                  <a:srgbClr val="C3CBE0"/>
                </a:solidFill>
              </a:rPr>
              <a:t>Every important change is recorded: who, what, when.</a:t>
            </a:r>
            <a:endParaRPr lang="en-US" sz="1300" dirty="0"/>
          </a:p>
        </p:txBody>
      </p:sp>
      <p:sp>
        <p:nvSpPr>
          <p:cNvPr id="20" name="Trust DPDP privacy tools"/>
          <p:cNvSpPr/>
          <p:nvPr/>
        </p:nvSpPr>
        <p:spPr>
          <a:xfrm>
            <a:off x="4383938" y="3977640"/>
            <a:ext cx="3423818" cy="1783080"/>
          </a:xfrm>
          <a:prstGeom prst="roundRect">
            <a:avLst>
              <a:gd name="adj" fmla="val 8205"/>
            </a:avLst>
          </a:prstGeom>
          <a:solidFill>
            <a:srgbClr val="172044"/>
          </a:solidFill>
          <a:ln w="9525">
            <a:solidFill>
              <a:srgbClr val="2E3B6B"/>
            </a:solidFill>
            <a:prstDash val="solid"/>
          </a:ln>
        </p:spPr>
      </p:sp>
      <p:pic>
        <p:nvPicPr>
          <p:cNvPr id="21" name="Image 4" descr="preencoded.png">    </p:cNvPr>
          <p:cNvPicPr>
            <a:picLocks noChangeAspect="1"/>
          </p:cNvPicPr>
          <p:nvPr/>
        </p:nvPicPr>
        <p:blipFill>
          <a:blip r:embed="rId5"/>
          <a:stretch>
            <a:fillRect/>
          </a:stretch>
        </p:blipFill>
        <p:spPr>
          <a:xfrm>
            <a:off x="4703978" y="4270248"/>
            <a:ext cx="411480" cy="411480"/>
          </a:xfrm>
          <a:prstGeom prst="rect">
            <a:avLst/>
          </a:prstGeom>
        </p:spPr>
      </p:pic>
      <p:sp>
        <p:nvSpPr>
          <p:cNvPr id="22" name="Text 15"/>
          <p:cNvSpPr txBox="1"/>
          <p:nvPr/>
        </p:nvSpPr>
        <p:spPr>
          <a:xfrm>
            <a:off x="4703978" y="4800600"/>
            <a:ext cx="2783738" cy="365760"/>
          </a:xfrm>
          <a:prstGeom prst="rect">
            <a:avLst/>
          </a:prstGeom>
          <a:noFill/>
          <a:ln/>
        </p:spPr>
        <p:txBody>
          <a:bodyPr wrap="square" lIns="0" tIns="0" rIns="0" bIns="0" rtlCol="0" anchor="t"/>
          <a:lstStyle/>
          <a:p>
            <a:pPr indent="0" marL="0">
              <a:buNone/>
            </a:pPr>
            <a:r>
              <a:rPr lang="en-US" sz="1700" b="1" dirty="0">
                <a:solidFill>
                  <a:srgbClr val="F6F7FB"/>
                </a:solidFill>
                <a:latin typeface="+mj-lt" pitchFamily="34" charset="0"/>
                <a:ea typeface="+mj-lt" pitchFamily="34" charset="-122"/>
                <a:cs typeface="+mj-lt" pitchFamily="34" charset="-120"/>
              </a:rPr>
              <a:t>DPDP privacy tools</a:t>
            </a:r>
            <a:endParaRPr lang="en-US" sz="1700" dirty="0"/>
          </a:p>
        </p:txBody>
      </p:sp>
      <p:sp>
        <p:nvSpPr>
          <p:cNvPr id="23" name="Text 16"/>
          <p:cNvSpPr txBox="1"/>
          <p:nvPr/>
        </p:nvSpPr>
        <p:spPr>
          <a:xfrm>
            <a:off x="4703978" y="5184648"/>
            <a:ext cx="2783738" cy="502920"/>
          </a:xfrm>
          <a:prstGeom prst="rect">
            <a:avLst/>
          </a:prstGeom>
          <a:noFill/>
          <a:ln/>
        </p:spPr>
        <p:txBody>
          <a:bodyPr wrap="square" lIns="0" tIns="0" rIns="0" bIns="0" rtlCol="0" anchor="t"/>
          <a:lstStyle/>
          <a:p>
            <a:pPr indent="0" marL="0">
              <a:buNone/>
            </a:pPr>
            <a:r>
              <a:rPr lang="en-US" sz="1300" dirty="0">
                <a:solidFill>
                  <a:srgbClr val="C3CBE0"/>
                </a:solidFill>
              </a:rPr>
              <a:t>Consent records, data requests and data export.</a:t>
            </a:r>
            <a:endParaRPr lang="en-US" sz="1300" dirty="0"/>
          </a:p>
        </p:txBody>
      </p:sp>
      <p:sp>
        <p:nvSpPr>
          <p:cNvPr id="24" name="Trust Separate by design"/>
          <p:cNvSpPr/>
          <p:nvPr/>
        </p:nvSpPr>
        <p:spPr>
          <a:xfrm>
            <a:off x="8082077" y="3977640"/>
            <a:ext cx="3423818" cy="1783080"/>
          </a:xfrm>
          <a:prstGeom prst="roundRect">
            <a:avLst>
              <a:gd name="adj" fmla="val 8205"/>
            </a:avLst>
          </a:prstGeom>
          <a:solidFill>
            <a:srgbClr val="172044"/>
          </a:solidFill>
          <a:ln w="9525">
            <a:solidFill>
              <a:srgbClr val="2E3B6B"/>
            </a:solidFill>
            <a:prstDash val="solid"/>
          </a:ln>
        </p:spPr>
      </p:sp>
      <p:pic>
        <p:nvPicPr>
          <p:cNvPr id="25" name="Image 5" descr="preencoded.png">    </p:cNvPr>
          <p:cNvPicPr>
            <a:picLocks noChangeAspect="1"/>
          </p:cNvPicPr>
          <p:nvPr/>
        </p:nvPicPr>
        <p:blipFill>
          <a:blip r:embed="rId6"/>
          <a:stretch>
            <a:fillRect/>
          </a:stretch>
        </p:blipFill>
        <p:spPr>
          <a:xfrm>
            <a:off x="8402117" y="4270248"/>
            <a:ext cx="411480" cy="411480"/>
          </a:xfrm>
          <a:prstGeom prst="rect">
            <a:avLst/>
          </a:prstGeom>
        </p:spPr>
      </p:pic>
      <p:sp>
        <p:nvSpPr>
          <p:cNvPr id="26" name="Text 18"/>
          <p:cNvSpPr txBox="1"/>
          <p:nvPr/>
        </p:nvSpPr>
        <p:spPr>
          <a:xfrm>
            <a:off x="8402117" y="4800600"/>
            <a:ext cx="2783738" cy="365760"/>
          </a:xfrm>
          <a:prstGeom prst="rect">
            <a:avLst/>
          </a:prstGeom>
          <a:noFill/>
          <a:ln/>
        </p:spPr>
        <p:txBody>
          <a:bodyPr wrap="square" lIns="0" tIns="0" rIns="0" bIns="0" rtlCol="0" anchor="t"/>
          <a:lstStyle/>
          <a:p>
            <a:pPr indent="0" marL="0">
              <a:buNone/>
            </a:pPr>
            <a:r>
              <a:rPr lang="en-US" sz="1700" b="1" dirty="0">
                <a:solidFill>
                  <a:srgbClr val="F6F7FB"/>
                </a:solidFill>
                <a:latin typeface="+mj-lt" pitchFamily="34" charset="0"/>
                <a:ea typeface="+mj-lt" pitchFamily="34" charset="-122"/>
                <a:cs typeface="+mj-lt" pitchFamily="34" charset="-120"/>
              </a:rPr>
              <a:t>Separate by design</a:t>
            </a:r>
            <a:endParaRPr lang="en-US" sz="1700" dirty="0"/>
          </a:p>
        </p:txBody>
      </p:sp>
      <p:sp>
        <p:nvSpPr>
          <p:cNvPr id="27" name="Text 19"/>
          <p:cNvSpPr txBox="1"/>
          <p:nvPr/>
        </p:nvSpPr>
        <p:spPr>
          <a:xfrm>
            <a:off x="8402117" y="5184648"/>
            <a:ext cx="2783738" cy="502920"/>
          </a:xfrm>
          <a:prstGeom prst="rect">
            <a:avLst/>
          </a:prstGeom>
          <a:noFill/>
          <a:ln/>
        </p:spPr>
        <p:txBody>
          <a:bodyPr wrap="square" lIns="0" tIns="0" rIns="0" bIns="0" rtlCol="0" anchor="t"/>
          <a:lstStyle/>
          <a:p>
            <a:pPr indent="0" marL="0">
              <a:buNone/>
            </a:pPr>
            <a:r>
              <a:rPr lang="en-US" sz="1300" dirty="0">
                <a:solidFill>
                  <a:srgbClr val="C3CBE0"/>
                </a:solidFill>
              </a:rPr>
              <a:t>Each company’s data is kept apart from every other.</a:t>
            </a:r>
            <a:endParaRPr lang="en-US" sz="13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lstStyle/>
          <a:p>
            <a:pPr indent="0" marL="0">
              <a:buNone/>
            </a:pPr>
            <a:r>
              <a:rPr lang="en-US" sz="1200" b="1" spc="300" kern="0" dirty="0">
                <a:solidFill>
                  <a:srgbClr val="FFB000"/>
                </a:solidFill>
              </a:rPr>
              <a:t>GETTING STARTED</a:t>
            </a:r>
            <a:endParaRPr lang="en-US" sz="1200" dirty="0"/>
          </a:p>
        </p:txBody>
      </p:sp>
      <p:sp>
        <p:nvSpPr>
          <p:cNvPr id="3" name="Text 0"/>
          <p:cNvSpPr/>
          <p:nvPr>
            <p:ph idx="101" type="title" hasCustomPrompt="1"/>
          </p:nvPr>
        </p:nvSpPr>
        <p:spPr>
          <a:xfrm>
            <a:off x="685800" y="804672"/>
            <a:ext cx="10820095" cy="731520"/>
          </a:xfrm>
          <a:prstGeom prst="rect">
            <a:avLst/>
          </a:prstGeom>
          <a:noFill/>
          <a:ln/>
        </p:spPr>
        <p:txBody>
          <a:bodyPr wrap="square" lIns="0" tIns="0" rIns="0" bIns="0" rtlCol="0" anchor="t"/>
          <a:lstStyle/>
          <a:p>
            <a:pPr indent="0" marL="0">
              <a:buNone/>
            </a:pPr>
            <a:r>
              <a:rPr lang="en-US" sz="3200" b="1" dirty="0">
                <a:solidFill>
                  <a:srgbClr val="F6F7FB"/>
                </a:solidFill>
                <a:latin typeface="Century Gothic" pitchFamily="34" charset="0"/>
                <a:ea typeface="Century Gothic" pitchFamily="34" charset="-122"/>
                <a:cs typeface="Century Gothic" pitchFamily="34" charset="-120"/>
              </a:rPr>
              <a:t>Live in four simple steps</a:t>
            </a:r>
            <a:endParaRPr lang="en-US" sz="3200" dirty="0"/>
          </a:p>
        </p:txBody>
      </p:sp>
      <p:sp>
        <p:nvSpPr>
          <p:cNvPr id="4" name="Step 1"/>
          <p:cNvSpPr/>
          <p:nvPr/>
        </p:nvSpPr>
        <p:spPr>
          <a:xfrm>
            <a:off x="685800" y="1965960"/>
            <a:ext cx="685800" cy="685800"/>
          </a:xfrm>
          <a:prstGeom prst="ellipse">
            <a:avLst/>
          </a:prstGeom>
          <a:solidFill>
            <a:srgbClr val="FFB000"/>
          </a:solidFill>
          <a:ln/>
        </p:spPr>
      </p:sp>
      <p:sp>
        <p:nvSpPr>
          <p:cNvPr id="5" name="Text 3"/>
          <p:cNvSpPr txBox="1"/>
          <p:nvPr/>
        </p:nvSpPr>
        <p:spPr>
          <a:xfrm>
            <a:off x="685800" y="1965960"/>
            <a:ext cx="685800" cy="685800"/>
          </a:xfrm>
          <a:prstGeom prst="rect">
            <a:avLst/>
          </a:prstGeom>
          <a:noFill/>
          <a:ln/>
        </p:spPr>
        <p:txBody>
          <a:bodyPr wrap="square" lIns="0" tIns="0" rIns="0" bIns="0" rtlCol="0" anchor="ctr"/>
          <a:lstStyle/>
          <a:p>
            <a:pPr algn="ctr" indent="0" marL="0">
              <a:buNone/>
            </a:pPr>
            <a:r>
              <a:rPr lang="en-US" sz="2400" b="1" dirty="0">
                <a:solidFill>
                  <a:srgbClr val="10172A"/>
                </a:solidFill>
                <a:latin typeface="+mj-lt" pitchFamily="34" charset="0"/>
                <a:ea typeface="+mj-lt" pitchFamily="34" charset="-122"/>
                <a:cs typeface="+mj-lt" pitchFamily="34" charset="-120"/>
              </a:rPr>
              <a:t>1</a:t>
            </a:r>
            <a:endParaRPr lang="en-US" sz="2400" dirty="0"/>
          </a:p>
        </p:txBody>
      </p:sp>
      <p:sp>
        <p:nvSpPr>
          <p:cNvPr id="6" name="Text 4"/>
          <p:cNvSpPr txBox="1"/>
          <p:nvPr/>
        </p:nvSpPr>
        <p:spPr>
          <a:xfrm>
            <a:off x="685800" y="2834640"/>
            <a:ext cx="2316404" cy="777240"/>
          </a:xfrm>
          <a:prstGeom prst="rect">
            <a:avLst/>
          </a:prstGeom>
          <a:noFill/>
          <a:ln/>
        </p:spPr>
        <p:txBody>
          <a:bodyPr wrap="square" lIns="0" tIns="0" rIns="0" bIns="0" rtlCol="0" anchor="t"/>
          <a:lstStyle/>
          <a:p>
            <a:pPr indent="0" marL="0">
              <a:buNone/>
            </a:pPr>
            <a:r>
              <a:rPr lang="en-US" sz="1800" b="1" dirty="0">
                <a:solidFill>
                  <a:srgbClr val="F6F7FB"/>
                </a:solidFill>
                <a:latin typeface="+mj-lt" pitchFamily="34" charset="0"/>
                <a:ea typeface="+mj-lt" pitchFamily="34" charset="-122"/>
                <a:cs typeface="+mj-lt" pitchFamily="34" charset="-120"/>
              </a:rPr>
              <a:t>Create your workspace</a:t>
            </a:r>
            <a:endParaRPr lang="en-US" sz="1800" dirty="0"/>
          </a:p>
        </p:txBody>
      </p:sp>
      <p:sp>
        <p:nvSpPr>
          <p:cNvPr id="7" name="Step 2"/>
          <p:cNvSpPr/>
          <p:nvPr/>
        </p:nvSpPr>
        <p:spPr>
          <a:xfrm>
            <a:off x="3459404" y="1965960"/>
            <a:ext cx="685800" cy="685800"/>
          </a:xfrm>
          <a:prstGeom prst="ellipse">
            <a:avLst/>
          </a:prstGeom>
          <a:solidFill>
            <a:srgbClr val="8FA8FF"/>
          </a:solidFill>
          <a:ln/>
        </p:spPr>
      </p:sp>
      <p:sp>
        <p:nvSpPr>
          <p:cNvPr id="8" name="Text 6"/>
          <p:cNvSpPr txBox="1"/>
          <p:nvPr/>
        </p:nvSpPr>
        <p:spPr>
          <a:xfrm>
            <a:off x="3459404" y="1965960"/>
            <a:ext cx="685800" cy="685800"/>
          </a:xfrm>
          <a:prstGeom prst="rect">
            <a:avLst/>
          </a:prstGeom>
          <a:noFill/>
          <a:ln/>
        </p:spPr>
        <p:txBody>
          <a:bodyPr wrap="square" lIns="0" tIns="0" rIns="0" bIns="0" rtlCol="0" anchor="ctr"/>
          <a:lstStyle/>
          <a:p>
            <a:pPr algn="ctr" indent="0" marL="0">
              <a:buNone/>
            </a:pPr>
            <a:r>
              <a:rPr lang="en-US" sz="2400" b="1" dirty="0">
                <a:solidFill>
                  <a:srgbClr val="10172A"/>
                </a:solidFill>
                <a:latin typeface="+mj-lt" pitchFamily="34" charset="0"/>
                <a:ea typeface="+mj-lt" pitchFamily="34" charset="-122"/>
                <a:cs typeface="+mj-lt" pitchFamily="34" charset="-120"/>
              </a:rPr>
              <a:t>2</a:t>
            </a:r>
            <a:endParaRPr lang="en-US" sz="2400" dirty="0"/>
          </a:p>
        </p:txBody>
      </p:sp>
      <p:sp>
        <p:nvSpPr>
          <p:cNvPr id="9" name="Text 7"/>
          <p:cNvSpPr txBox="1"/>
          <p:nvPr/>
        </p:nvSpPr>
        <p:spPr>
          <a:xfrm>
            <a:off x="3459404" y="2834640"/>
            <a:ext cx="2316404" cy="777240"/>
          </a:xfrm>
          <a:prstGeom prst="rect">
            <a:avLst/>
          </a:prstGeom>
          <a:noFill/>
          <a:ln/>
        </p:spPr>
        <p:txBody>
          <a:bodyPr wrap="square" lIns="0" tIns="0" rIns="0" bIns="0" rtlCol="0" anchor="t"/>
          <a:lstStyle/>
          <a:p>
            <a:pPr indent="0" marL="0">
              <a:buNone/>
            </a:pPr>
            <a:r>
              <a:rPr lang="en-US" sz="1800" b="1" dirty="0">
                <a:solidFill>
                  <a:srgbClr val="F6F7FB"/>
                </a:solidFill>
                <a:latin typeface="+mj-lt" pitchFamily="34" charset="0"/>
                <a:ea typeface="+mj-lt" pitchFamily="34" charset="-122"/>
                <a:cs typeface="+mj-lt" pitchFamily="34" charset="-120"/>
              </a:rPr>
              <a:t>Import employees from Excel</a:t>
            </a:r>
            <a:endParaRPr lang="en-US" sz="1800" dirty="0"/>
          </a:p>
        </p:txBody>
      </p:sp>
      <p:sp>
        <p:nvSpPr>
          <p:cNvPr id="10" name="Step 3"/>
          <p:cNvSpPr/>
          <p:nvPr/>
        </p:nvSpPr>
        <p:spPr>
          <a:xfrm>
            <a:off x="6233008" y="1965960"/>
            <a:ext cx="685800" cy="685800"/>
          </a:xfrm>
          <a:prstGeom prst="ellipse">
            <a:avLst/>
          </a:prstGeom>
          <a:solidFill>
            <a:srgbClr val="8FA8FF"/>
          </a:solidFill>
          <a:ln/>
        </p:spPr>
      </p:sp>
      <p:sp>
        <p:nvSpPr>
          <p:cNvPr id="11" name="Text 9"/>
          <p:cNvSpPr txBox="1"/>
          <p:nvPr/>
        </p:nvSpPr>
        <p:spPr>
          <a:xfrm>
            <a:off x="6233008" y="1965960"/>
            <a:ext cx="685800" cy="685800"/>
          </a:xfrm>
          <a:prstGeom prst="rect">
            <a:avLst/>
          </a:prstGeom>
          <a:noFill/>
          <a:ln/>
        </p:spPr>
        <p:txBody>
          <a:bodyPr wrap="square" lIns="0" tIns="0" rIns="0" bIns="0" rtlCol="0" anchor="ctr"/>
          <a:lstStyle/>
          <a:p>
            <a:pPr algn="ctr" indent="0" marL="0">
              <a:buNone/>
            </a:pPr>
            <a:r>
              <a:rPr lang="en-US" sz="2400" b="1" dirty="0">
                <a:solidFill>
                  <a:srgbClr val="10172A"/>
                </a:solidFill>
                <a:latin typeface="+mj-lt" pitchFamily="34" charset="0"/>
                <a:ea typeface="+mj-lt" pitchFamily="34" charset="-122"/>
                <a:cs typeface="+mj-lt" pitchFamily="34" charset="-120"/>
              </a:rPr>
              <a:t>3</a:t>
            </a:r>
            <a:endParaRPr lang="en-US" sz="2400" dirty="0"/>
          </a:p>
        </p:txBody>
      </p:sp>
      <p:sp>
        <p:nvSpPr>
          <p:cNvPr id="12" name="Text 10"/>
          <p:cNvSpPr txBox="1"/>
          <p:nvPr/>
        </p:nvSpPr>
        <p:spPr>
          <a:xfrm>
            <a:off x="6233008" y="2834640"/>
            <a:ext cx="2316404" cy="777240"/>
          </a:xfrm>
          <a:prstGeom prst="rect">
            <a:avLst/>
          </a:prstGeom>
          <a:noFill/>
          <a:ln/>
        </p:spPr>
        <p:txBody>
          <a:bodyPr wrap="square" lIns="0" tIns="0" rIns="0" bIns="0" rtlCol="0" anchor="t"/>
          <a:lstStyle/>
          <a:p>
            <a:pPr indent="0" marL="0">
              <a:buNone/>
            </a:pPr>
            <a:r>
              <a:rPr lang="en-US" sz="1800" b="1" dirty="0">
                <a:solidFill>
                  <a:srgbClr val="F6F7FB"/>
                </a:solidFill>
                <a:latin typeface="+mj-lt" pitchFamily="34" charset="0"/>
                <a:ea typeface="+mj-lt" pitchFamily="34" charset="-122"/>
                <a:cs typeface="+mj-lt" pitchFamily="34" charset="-120"/>
              </a:rPr>
              <a:t>Set leave, shifts and payroll</a:t>
            </a:r>
            <a:endParaRPr lang="en-US" sz="1800" dirty="0"/>
          </a:p>
        </p:txBody>
      </p:sp>
      <p:sp>
        <p:nvSpPr>
          <p:cNvPr id="13" name="Step 4"/>
          <p:cNvSpPr/>
          <p:nvPr/>
        </p:nvSpPr>
        <p:spPr>
          <a:xfrm>
            <a:off x="9006611" y="1965960"/>
            <a:ext cx="685800" cy="685800"/>
          </a:xfrm>
          <a:prstGeom prst="ellipse">
            <a:avLst/>
          </a:prstGeom>
          <a:solidFill>
            <a:srgbClr val="8FA8FF"/>
          </a:solidFill>
          <a:ln/>
        </p:spPr>
      </p:sp>
      <p:sp>
        <p:nvSpPr>
          <p:cNvPr id="14" name="Text 12"/>
          <p:cNvSpPr txBox="1"/>
          <p:nvPr/>
        </p:nvSpPr>
        <p:spPr>
          <a:xfrm>
            <a:off x="9006611" y="1965960"/>
            <a:ext cx="685800" cy="685800"/>
          </a:xfrm>
          <a:prstGeom prst="rect">
            <a:avLst/>
          </a:prstGeom>
          <a:noFill/>
          <a:ln/>
        </p:spPr>
        <p:txBody>
          <a:bodyPr wrap="square" lIns="0" tIns="0" rIns="0" bIns="0" rtlCol="0" anchor="ctr"/>
          <a:lstStyle/>
          <a:p>
            <a:pPr algn="ctr" indent="0" marL="0">
              <a:buNone/>
            </a:pPr>
            <a:r>
              <a:rPr lang="en-US" sz="2400" b="1" dirty="0">
                <a:solidFill>
                  <a:srgbClr val="10172A"/>
                </a:solidFill>
                <a:latin typeface="+mj-lt" pitchFamily="34" charset="0"/>
                <a:ea typeface="+mj-lt" pitchFamily="34" charset="-122"/>
                <a:cs typeface="+mj-lt" pitchFamily="34" charset="-120"/>
              </a:rPr>
              <a:t>4</a:t>
            </a:r>
            <a:endParaRPr lang="en-US" sz="2400" dirty="0"/>
          </a:p>
        </p:txBody>
      </p:sp>
      <p:sp>
        <p:nvSpPr>
          <p:cNvPr id="15" name="Text 13"/>
          <p:cNvSpPr txBox="1"/>
          <p:nvPr/>
        </p:nvSpPr>
        <p:spPr>
          <a:xfrm>
            <a:off x="9006611" y="2834640"/>
            <a:ext cx="2316404" cy="777240"/>
          </a:xfrm>
          <a:prstGeom prst="rect">
            <a:avLst/>
          </a:prstGeom>
          <a:noFill/>
          <a:ln/>
        </p:spPr>
        <p:txBody>
          <a:bodyPr wrap="square" lIns="0" tIns="0" rIns="0" bIns="0" rtlCol="0" anchor="t"/>
          <a:lstStyle/>
          <a:p>
            <a:pPr indent="0" marL="0">
              <a:buNone/>
            </a:pPr>
            <a:r>
              <a:rPr lang="en-US" sz="1800" b="1" dirty="0">
                <a:solidFill>
                  <a:srgbClr val="F6F7FB"/>
                </a:solidFill>
                <a:latin typeface="+mj-lt" pitchFamily="34" charset="0"/>
                <a:ea typeface="+mj-lt" pitchFamily="34" charset="-122"/>
                <a:cs typeface="+mj-lt" pitchFamily="34" charset="-120"/>
              </a:rPr>
              <a:t>Install the Vettri Agent</a:t>
            </a:r>
            <a:endParaRPr lang="en-US" sz="1800" dirty="0"/>
          </a:p>
        </p:txBody>
      </p:sp>
      <p:sp>
        <p:nvSpPr>
          <p:cNvPr id="16" name="Demo call to action"/>
          <p:cNvSpPr/>
          <p:nvPr/>
        </p:nvSpPr>
        <p:spPr>
          <a:xfrm>
            <a:off x="685800" y="3977640"/>
            <a:ext cx="10820095" cy="1600200"/>
          </a:xfrm>
          <a:prstGeom prst="roundRect">
            <a:avLst>
              <a:gd name="adj" fmla="val 12571"/>
            </a:avLst>
          </a:prstGeom>
          <a:solidFill>
            <a:srgbClr val="4169E1"/>
          </a:solidFill>
          <a:ln/>
          <a:effectLst>
            <a:outerShdw sx="100000" sy="100000" kx="0" ky="0" algn="bl" rotWithShape="0" blurRad="254000" dist="76200" dir="5400000">
              <a:srgbClr val="10172A">
                <a:alpha val="35000"/>
              </a:srgbClr>
            </a:outerShdw>
          </a:effectLst>
        </p:spPr>
      </p:sp>
      <p:sp>
        <p:nvSpPr>
          <p:cNvPr id="17" name="Text 15"/>
          <p:cNvSpPr txBox="1"/>
          <p:nvPr/>
        </p:nvSpPr>
        <p:spPr>
          <a:xfrm>
            <a:off x="1188720" y="4297680"/>
            <a:ext cx="6858000" cy="548640"/>
          </a:xfrm>
          <a:prstGeom prst="rect">
            <a:avLst/>
          </a:prstGeom>
          <a:noFill/>
          <a:ln/>
        </p:spPr>
        <p:txBody>
          <a:bodyPr wrap="square" lIns="0" tIns="0" rIns="0" bIns="0" rtlCol="0" anchor="t"/>
          <a:lstStyle/>
          <a:p>
            <a:pPr indent="0" marL="0">
              <a:buNone/>
            </a:pPr>
            <a:r>
              <a:rPr lang="en-US" sz="2800" b="1" dirty="0">
                <a:solidFill>
                  <a:srgbClr val="F6F7FB"/>
                </a:solidFill>
                <a:latin typeface="+mj-lt" pitchFamily="34" charset="0"/>
                <a:ea typeface="+mj-lt" pitchFamily="34" charset="-122"/>
                <a:cs typeface="+mj-lt" pitchFamily="34" charset="-120"/>
              </a:rPr>
              <a:t>Let’s book your demo</a:t>
            </a:r>
            <a:endParaRPr lang="en-US" sz="2800" dirty="0"/>
          </a:p>
        </p:txBody>
      </p:sp>
      <p:sp>
        <p:nvSpPr>
          <p:cNvPr id="18" name="Text 16"/>
          <p:cNvSpPr txBox="1"/>
          <p:nvPr/>
        </p:nvSpPr>
        <p:spPr>
          <a:xfrm>
            <a:off x="1188720" y="4892040"/>
            <a:ext cx="6858000" cy="411480"/>
          </a:xfrm>
          <a:prstGeom prst="rect">
            <a:avLst/>
          </a:prstGeom>
          <a:noFill/>
          <a:ln/>
        </p:spPr>
        <p:txBody>
          <a:bodyPr wrap="square" lIns="0" tIns="0" rIns="0" bIns="0" rtlCol="0" anchor="t"/>
          <a:lstStyle/>
          <a:p>
            <a:pPr indent="0" marL="0">
              <a:buNone/>
            </a:pPr>
            <a:r>
              <a:rPr lang="en-US" sz="1600" dirty="0">
                <a:solidFill>
                  <a:srgbClr val="E6EAFF"/>
                </a:solidFill>
              </a:rPr>
              <a:t>Write to us: customersupport@vettrihrms.in</a:t>
            </a:r>
            <a:endParaRPr lang="en-US" sz="1600" dirty="0"/>
          </a:p>
        </p:txBody>
      </p:sp>
      <p:sp>
        <p:nvSpPr>
          <p:cNvPr id="19" name="Website pill"/>
          <p:cNvSpPr/>
          <p:nvPr/>
        </p:nvSpPr>
        <p:spPr>
          <a:xfrm>
            <a:off x="8259775" y="4434840"/>
            <a:ext cx="2743200" cy="685800"/>
          </a:xfrm>
          <a:prstGeom prst="roundRect">
            <a:avLst>
              <a:gd name="adj" fmla="val 49333"/>
            </a:avLst>
          </a:prstGeom>
          <a:solidFill>
            <a:srgbClr val="F6F7FB"/>
          </a:solidFill>
          <a:ln/>
        </p:spPr>
      </p:sp>
      <p:sp>
        <p:nvSpPr>
          <p:cNvPr id="20" name="Text 18"/>
          <p:cNvSpPr txBox="1"/>
          <p:nvPr/>
        </p:nvSpPr>
        <p:spPr>
          <a:xfrm>
            <a:off x="8259775" y="4434840"/>
            <a:ext cx="2743200" cy="685800"/>
          </a:xfrm>
          <a:prstGeom prst="rect">
            <a:avLst/>
          </a:prstGeom>
          <a:noFill/>
          <a:ln/>
        </p:spPr>
        <p:txBody>
          <a:bodyPr wrap="square" lIns="0" tIns="0" rIns="0" bIns="0" rtlCol="0" anchor="ctr"/>
          <a:lstStyle/>
          <a:p>
            <a:pPr algn="ctr" indent="0" marL="0">
              <a:buNone/>
            </a:pPr>
            <a:r>
              <a:rPr lang="en-US" sz="2000" b="1" dirty="0">
                <a:solidFill>
                  <a:srgbClr val="10172A"/>
                </a:solidFill>
                <a:latin typeface="+mj-lt" pitchFamily="34" charset="0"/>
                <a:ea typeface="+mj-lt" pitchFamily="34" charset="-122"/>
                <a:cs typeface="+mj-lt" pitchFamily="34" charset="-120"/>
              </a:rPr>
              <a:t>vettrihrms.in</a:t>
            </a:r>
            <a:endParaRPr lang="en-US" sz="2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8A94B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Vettri">
  <a:themeElements>
    <a:clrScheme name="Vettri">
      <a:dk1>
        <a:srgbClr val="10172A"/>
      </a:dk1>
      <a:lt1>
        <a:srgbClr val="FFFFFF"/>
      </a:lt1>
      <a:dk2>
        <a:srgbClr val="1B2850"/>
      </a:dk2>
      <a:lt2>
        <a:srgbClr val="F6F7FB"/>
      </a:lt2>
      <a:accent1>
        <a:srgbClr val="4169E1"/>
      </a:accent1>
      <a:accent2>
        <a:srgbClr val="6558F5"/>
      </a:accent2>
      <a:accent3>
        <a:srgbClr val="FFB000"/>
      </a:accent3>
      <a:accent4>
        <a:srgbClr val="8FA8FF"/>
      </a:accent4>
      <a:accent5>
        <a:srgbClr val="12735A"/>
      </a:accent5>
      <a:accent6>
        <a:srgbClr val="9A6519"/>
      </a:accent6>
      <a:hlink>
        <a:srgbClr val="3457C9"/>
      </a:hlink>
      <a:folHlink>
        <a:srgbClr val="5446D9"/>
      </a:folHlink>
    </a:clrScheme>
    <a:fontScheme name="Vettri">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Vettri HRMS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Vettri HRMS – One platform for your people and their laptops</dc:title>
  <dc:subject>PptxGenJS Presentation</dc:subject>
  <dc:creator>Vettri HRMS</dc:creator>
  <cp:lastModifiedBy>Vettri HRMS</cp:lastModifiedBy>
  <cp:revision>1</cp:revision>
  <dcterms:created xsi:type="dcterms:W3CDTF">2026-10-29T11:58:30Z</dcterms:created>
  <dcterms:modified xsi:type="dcterms:W3CDTF">2026-10-29T11:58:30Z</dcterms:modified>
</cp:coreProperties>
</file>